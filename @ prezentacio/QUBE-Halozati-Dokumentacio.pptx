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9144000" cy="6858000" type="screen4x3"/>
  <p:notesSz cx="6858000" cy="9144000"/>
  <p:embeddedFontLst>
    <p:embeddedFont>
      <p:font typeface="Roboto" panose="02000000000000000000" pitchFamily="2" charset="0"/>
      <p:regular r:id="rId13"/>
      <p:bold r:id="rId14"/>
    </p:embeddedFont>
    <p:embeddedFont>
      <p:font typeface="Saira Medium" panose="020B0604020202020204" charset="-18"/>
      <p:regular r:id="rId15"/>
    </p:embeddedFont>
  </p:embeddedFontLst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15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8146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8E5EC-CF9B-E0CF-BA6C-E436493BF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6AEA30-A009-5B89-378E-D17EFC95A0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CC42FA-995B-ACB0-4603-5D9429DC0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ADE63-9676-A958-2F9F-C0CEBAA87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129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6119" y="2543845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QUBE – </a:t>
            </a:r>
            <a:r>
              <a:rPr lang="en-US" sz="2750" dirty="0" err="1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Hálózati</a:t>
            </a:r>
            <a:endParaRPr lang="hu-HU" sz="2750" dirty="0">
              <a:solidFill>
                <a:srgbClr val="FFFFFF"/>
              </a:solidFill>
              <a:latin typeface="Saira Medium" pitchFamily="34" charset="0"/>
              <a:ea typeface="Saira Medium" pitchFamily="34" charset="-122"/>
              <a:cs typeface="Saira Medium" pitchFamily="34" charset="-12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hu-HU" sz="2750" dirty="0">
                <a:solidFill>
                  <a:srgbClr val="FFFFFF"/>
                </a:solidFill>
                <a:latin typeface="Saira Medium" pitchFamily="34" charset="0"/>
              </a:rPr>
              <a:t>Bemutató</a:t>
            </a:r>
            <a:endParaRPr lang="en-US" sz="2750" dirty="0"/>
          </a:p>
        </p:txBody>
      </p:sp>
      <p:sp>
        <p:nvSpPr>
          <p:cNvPr id="6" name="Text 2"/>
          <p:cNvSpPr/>
          <p:nvPr/>
        </p:nvSpPr>
        <p:spPr>
          <a:xfrm>
            <a:off x="496119" y="3642420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Gábriel Milán · Nyári Patrik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496119" y="4038228"/>
            <a:ext cx="1685330" cy="266402"/>
          </a:xfrm>
          <a:prstGeom prst="roundRect">
            <a:avLst>
              <a:gd name="adj" fmla="val 38315"/>
            </a:avLst>
          </a:prstGeom>
          <a:solidFill>
            <a:srgbClr val="4B1E01"/>
          </a:solidFill>
          <a:ln/>
        </p:spPr>
        <p:txBody>
          <a:bodyPr/>
          <a:lstStyle/>
          <a:p>
            <a:endParaRPr lang="hu-HU" dirty="0"/>
          </a:p>
        </p:txBody>
      </p:sp>
      <p:sp>
        <p:nvSpPr>
          <p:cNvPr id="8" name="Text 4"/>
          <p:cNvSpPr/>
          <p:nvPr/>
        </p:nvSpPr>
        <p:spPr>
          <a:xfrm>
            <a:off x="581174" y="4080718"/>
            <a:ext cx="197241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hu-HU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HÁLÓZAT ÉS SZOLGÁLTATÁS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2252290" y="4028703"/>
            <a:ext cx="443954" cy="285452"/>
          </a:xfrm>
          <a:prstGeom prst="roundRect">
            <a:avLst>
              <a:gd name="adj" fmla="val 35758"/>
            </a:avLst>
          </a:prstGeom>
          <a:noFill/>
          <a:ln w="9525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6"/>
          <p:cNvSpPr/>
          <p:nvPr/>
        </p:nvSpPr>
        <p:spPr>
          <a:xfrm>
            <a:off x="2346871" y="4080718"/>
            <a:ext cx="71199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850" dirty="0"/>
          </a:p>
        </p:txBody>
      </p:sp>
      <p:pic>
        <p:nvPicPr>
          <p:cNvPr id="12" name="Ábra 11">
            <a:extLst>
              <a:ext uri="{FF2B5EF4-FFF2-40B4-BE49-F238E27FC236}">
                <a16:creationId xmlns:a16="http://schemas.microsoft.com/office/drawing/2014/main" id="{31F540D0-E4C8-E770-06DA-2409792939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9873" y="2597499"/>
            <a:ext cx="4070800" cy="1664640"/>
          </a:xfrm>
          <a:prstGeom prst="rect">
            <a:avLst/>
          </a:prstGeom>
        </p:spPr>
      </p:pic>
      <p:sp>
        <p:nvSpPr>
          <p:cNvPr id="13" name="Téglalap 12">
            <a:extLst>
              <a:ext uri="{FF2B5EF4-FFF2-40B4-BE49-F238E27FC236}">
                <a16:creationId xmlns:a16="http://schemas.microsoft.com/office/drawing/2014/main" id="{F2ED7247-88FB-855C-1768-019F6857C0B1}"/>
              </a:ext>
            </a:extLst>
          </p:cNvPr>
          <p:cNvSpPr/>
          <p:nvPr/>
        </p:nvSpPr>
        <p:spPr>
          <a:xfrm>
            <a:off x="7926438" y="6560495"/>
            <a:ext cx="1204840" cy="2913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églalap 16">
            <a:extLst>
              <a:ext uri="{FF2B5EF4-FFF2-40B4-BE49-F238E27FC236}">
                <a16:creationId xmlns:a16="http://schemas.microsoft.com/office/drawing/2014/main" id="{2ABB9EC3-E8A7-02CE-FB5D-849C5B0E0CBF}"/>
              </a:ext>
            </a:extLst>
          </p:cNvPr>
          <p:cNvSpPr/>
          <p:nvPr/>
        </p:nvSpPr>
        <p:spPr>
          <a:xfrm>
            <a:off x="7926438" y="6560495"/>
            <a:ext cx="1204840" cy="2913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29000" cy="6858000"/>
          </a:xfrm>
          <a:prstGeom prst="rect">
            <a:avLst/>
          </a:prstGeom>
          <a:solidFill>
            <a:srgbClr val="DFDFE0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4" name="Image 1"/>
          <p:cNvPicPr>
            <a:picLocks noChangeAspect="1"/>
          </p:cNvPicPr>
          <p:nvPr/>
        </p:nvPicPr>
        <p:blipFill>
          <a:blip r:embed="rId4"/>
          <a:srcRect l="43660" t="-269" r="23006" b="269"/>
          <a:stretch>
            <a:fillRect/>
          </a:stretch>
        </p:blipFill>
        <p:spPr>
          <a:xfrm>
            <a:off x="0" y="0"/>
            <a:ext cx="3429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25119" y="165422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Cégünkről</a:t>
            </a:r>
            <a:endParaRPr lang="en-US" sz="2750" dirty="0"/>
          </a:p>
        </p:txBody>
      </p:sp>
      <p:sp>
        <p:nvSpPr>
          <p:cNvPr id="6" name="Shape 2"/>
          <p:cNvSpPr/>
          <p:nvPr/>
        </p:nvSpPr>
        <p:spPr>
          <a:xfrm>
            <a:off x="3925119" y="2309813"/>
            <a:ext cx="2290465" cy="1293688"/>
          </a:xfrm>
          <a:prstGeom prst="roundRect">
            <a:avLst>
              <a:gd name="adj" fmla="val 9863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3"/>
          <p:cNvSpPr/>
          <p:nvPr/>
        </p:nvSpPr>
        <p:spPr>
          <a:xfrm>
            <a:off x="4081165" y="246585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Győr – Gyártás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081165" y="2772370"/>
            <a:ext cx="197837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Modern gyártóbázis, kompakt mini PC-k előállítása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357342" y="2309813"/>
            <a:ext cx="2290539" cy="1293688"/>
          </a:xfrm>
          <a:prstGeom prst="roundRect">
            <a:avLst>
              <a:gd name="adj" fmla="val 9863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6"/>
          <p:cNvSpPr/>
          <p:nvPr/>
        </p:nvSpPr>
        <p:spPr>
          <a:xfrm>
            <a:off x="6513388" y="2465859"/>
            <a:ext cx="1978447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Székesfehérvár – Központ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513388" y="2993827"/>
            <a:ext cx="1978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Irodai és fejlesztési központ, IT infrastruktúra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925119" y="3745260"/>
            <a:ext cx="4722763" cy="845418"/>
          </a:xfrm>
          <a:prstGeom prst="roundRect">
            <a:avLst>
              <a:gd name="adj" fmla="val 15092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Text 9"/>
          <p:cNvSpPr/>
          <p:nvPr/>
        </p:nvSpPr>
        <p:spPr>
          <a:xfrm>
            <a:off x="4081165" y="390130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Nyíregyháza – Bolt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081165" y="4207818"/>
            <a:ext cx="486787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Kiskereskedelmi telephely, termékbemutató és értékesítés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925119" y="475014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QUBE MiniPC Kft. megbízható, helyben gyártott technológiai megoldásokat kínál otthoni és üzleti felhasználók számára.</a:t>
            </a:r>
            <a:endParaRPr lang="en-US" sz="1100" dirty="0"/>
          </a:p>
        </p:txBody>
      </p:sp>
      <p:pic>
        <p:nvPicPr>
          <p:cNvPr id="16" name="Ábra 15">
            <a:extLst>
              <a:ext uri="{FF2B5EF4-FFF2-40B4-BE49-F238E27FC236}">
                <a16:creationId xmlns:a16="http://schemas.microsoft.com/office/drawing/2014/main" id="{F1A68A9E-8568-77BC-1B4C-8FB2BD4703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14228" y="6297060"/>
            <a:ext cx="1204840" cy="4926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738610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Projekt és Csapat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53595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Projekt célja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899172"/>
            <a:ext cx="37329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Korszerű, biztonságos és redundáns IT infrastruktúra kialakítása a gyártási, irodai és kereskedelmi folyamatok támogatására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3721373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Projektmenedzsment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4084588"/>
            <a:ext cx="3732981" cy="47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Fájlmegosztás és verziókövetés </a:t>
            </a: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GitHub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-on, feladatkövetés </a:t>
            </a: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GitHub Projects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felületen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46564" y="1738610"/>
            <a:ext cx="1965499" cy="1740768"/>
          </a:xfrm>
          <a:prstGeom prst="roundRect">
            <a:avLst>
              <a:gd name="adj" fmla="val 7330"/>
            </a:avLst>
          </a:prstGeom>
          <a:solidFill>
            <a:srgbClr val="030303">
              <a:alpha val="75000"/>
            </a:srgbClr>
          </a:solidFill>
          <a:ln w="1905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4807373" y="1899419"/>
            <a:ext cx="21010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Gábriel Milán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36493" y="2281684"/>
            <a:ext cx="1785639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Windows szerverek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Linux szerverek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Szerverszolgáltatások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Tesztelés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53821" y="1738610"/>
            <a:ext cx="1965573" cy="1740768"/>
          </a:xfrm>
          <a:prstGeom prst="roundRect">
            <a:avLst>
              <a:gd name="adj" fmla="val 7330"/>
            </a:avLst>
          </a:prstGeom>
          <a:solidFill>
            <a:srgbClr val="030303">
              <a:alpha val="75000"/>
            </a:srgbClr>
          </a:solidFill>
          <a:ln w="19050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6914630" y="1899419"/>
            <a:ext cx="210115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Nyári Patrik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914630" y="2262634"/>
            <a:ext cx="1643955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Hálózat tervezés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Hálózat felügyelet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Automatizáció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Dokumentáció</a:t>
            </a:r>
            <a:endParaRPr lang="en-US" sz="1100" dirty="0"/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14D30C15-90D8-8F2F-EE8F-0408567477F6}"/>
              </a:ext>
            </a:extLst>
          </p:cNvPr>
          <p:cNvSpPr/>
          <p:nvPr/>
        </p:nvSpPr>
        <p:spPr>
          <a:xfrm>
            <a:off x="7926438" y="6560495"/>
            <a:ext cx="1204840" cy="2913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4" name="Ábra 13">
            <a:extLst>
              <a:ext uri="{FF2B5EF4-FFF2-40B4-BE49-F238E27FC236}">
                <a16:creationId xmlns:a16="http://schemas.microsoft.com/office/drawing/2014/main" id="{A95D83E7-08A6-5AF6-A7E0-BCE0264CA8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4228" y="6297060"/>
            <a:ext cx="1204840" cy="492686"/>
          </a:xfrm>
          <a:prstGeom prst="rect">
            <a:avLst/>
          </a:prstGeom>
        </p:spPr>
      </p:pic>
      <p:sp>
        <p:nvSpPr>
          <p:cNvPr id="15" name="Text 3">
            <a:extLst>
              <a:ext uri="{FF2B5EF4-FFF2-40B4-BE49-F238E27FC236}">
                <a16:creationId xmlns:a16="http://schemas.microsoft.com/office/drawing/2014/main" id="{D04E491D-B132-FFBD-DCE3-658E8E777433}"/>
              </a:ext>
            </a:extLst>
          </p:cNvPr>
          <p:cNvSpPr/>
          <p:nvPr/>
        </p:nvSpPr>
        <p:spPr>
          <a:xfrm>
            <a:off x="496119" y="470496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hu-HU" sz="1350" dirty="0">
                <a:solidFill>
                  <a:srgbClr val="FFFFFF"/>
                </a:solidFill>
                <a:latin typeface="Saira Medium" pitchFamily="34" charset="0"/>
              </a:rPr>
              <a:t>Problémák</a:t>
            </a:r>
            <a:endParaRPr lang="en-US" sz="135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698BFC85-4F0B-5E55-4565-1CCF90DCB5A4}"/>
              </a:ext>
            </a:extLst>
          </p:cNvPr>
          <p:cNvSpPr/>
          <p:nvPr/>
        </p:nvSpPr>
        <p:spPr>
          <a:xfrm>
            <a:off x="496119" y="5068182"/>
            <a:ext cx="373298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Fő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nehézség: OSPF-hurok a KÖZPONT két </a:t>
            </a:r>
            <a:r>
              <a:rPr lang="en-US" sz="11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routere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1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között</a:t>
            </a:r>
            <a:r>
              <a:rPr lang="hu-HU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hu-HU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</a:t>
            </a:r>
            <a:r>
              <a:rPr lang="en-US" sz="11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tatikus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útvonalakkal megoldva.</a:t>
            </a:r>
            <a:endParaRPr lang="en-US" sz="1100" dirty="0"/>
          </a:p>
        </p:txBody>
      </p:sp>
      <p:pic>
        <p:nvPicPr>
          <p:cNvPr id="18" name="Kép 17">
            <a:extLst>
              <a:ext uri="{FF2B5EF4-FFF2-40B4-BE49-F238E27FC236}">
                <a16:creationId xmlns:a16="http://schemas.microsoft.com/office/drawing/2014/main" id="{03E6575E-89F1-8DB4-AC9D-83E9455AB3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6" t="3560" r="6" b="32328"/>
          <a:stretch>
            <a:fillRect/>
          </a:stretch>
        </p:blipFill>
        <p:spPr>
          <a:xfrm>
            <a:off x="4646564" y="3780799"/>
            <a:ext cx="4072830" cy="1740769"/>
          </a:xfrm>
          <a:prstGeom prst="rect">
            <a:avLst/>
          </a:prstGeom>
          <a:effectLst>
            <a:softEdge rad="0"/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0228"/>
            <a:ext cx="562659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Hálózati Topológia és IP Címzés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05062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Három telephely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168277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r>
              <a:rPr lang="hu-HU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KÖZPONT látja el a hálózat legfőbb feladatait és biztosítja a többi telephely számára, </a:t>
            </a:r>
            <a:r>
              <a:rPr lang="hu-HU" sz="11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legredundásabb</a:t>
            </a:r>
            <a:r>
              <a:rPr lang="hu-HU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és biztonságosabb.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hu-HU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A TERMELÉS 2 épületet foglal magába és három rétegű topológiára épül. A BOLT egy egyszerű, </a:t>
            </a:r>
            <a:r>
              <a:rPr lang="hu-HU" sz="11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dualstack</a:t>
            </a:r>
            <a:r>
              <a:rPr lang="hu-HU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</a:rPr>
              <a:t> hálózat.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99047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IPv4 logika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3353693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Privát </a:t>
            </a: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10.0.0.0/8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hálózat, telephelyenként /16-os alhálózatok: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3708053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KÖZPONT: 10.1.0.0/16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BOLT: 10.2.0.0/16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GYÁRTÁS: 10.3.0.0/16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CSOMAGOLÁS: 10.4.0.0/16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6119" y="4905747"/>
            <a:ext cx="24579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IPv6 – Dual Stack (BOLT)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6119" y="5268962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Tesztjelleggel dual-stack topológia, SLAAC-alapú kiosztás a </a:t>
            </a: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2a02:abcd:1234::/48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tartományból.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701" y="1805285"/>
            <a:ext cx="3902943" cy="3902943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701" y="1805285"/>
            <a:ext cx="3902943" cy="3902943"/>
          </a:xfrm>
          <a:prstGeom prst="rect">
            <a:avLst/>
          </a:prstGeom>
        </p:spPr>
      </p:pic>
      <p:sp>
        <p:nvSpPr>
          <p:cNvPr id="12" name="Téglalap 11">
            <a:extLst>
              <a:ext uri="{FF2B5EF4-FFF2-40B4-BE49-F238E27FC236}">
                <a16:creationId xmlns:a16="http://schemas.microsoft.com/office/drawing/2014/main" id="{DE3C6E45-03F3-A913-1DF5-2B6B2490E97E}"/>
              </a:ext>
            </a:extLst>
          </p:cNvPr>
          <p:cNvSpPr/>
          <p:nvPr/>
        </p:nvSpPr>
        <p:spPr>
          <a:xfrm>
            <a:off x="7926438" y="6560495"/>
            <a:ext cx="1204840" cy="2913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3" name="Ábra 12">
            <a:extLst>
              <a:ext uri="{FF2B5EF4-FFF2-40B4-BE49-F238E27FC236}">
                <a16:creationId xmlns:a16="http://schemas.microsoft.com/office/drawing/2014/main" id="{D7A943E4-38F9-6EB7-4039-34B5E67F37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14228" y="6297060"/>
            <a:ext cx="1204840" cy="4926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51930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VLAN Szegmentáció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78434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Minden telephelyen részletesen szegmentált VLAN struktúra biztosítja a forgalom elkülönítését, a biztonságot és a skálázhatóságot. A </a:t>
            </a: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999-es VLAN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natív, a </a:t>
            </a: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150-es ADMIN VLAN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menedzsmenthez, a </a:t>
            </a: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200-as GUEST VLAN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vendégeknek.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491532"/>
            <a:ext cx="4004965" cy="1674540"/>
          </a:xfrm>
          <a:prstGeom prst="roundRect">
            <a:avLst>
              <a:gd name="adj" fmla="val 7619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652165" y="264757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KÖZPONT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52165" y="2954089"/>
            <a:ext cx="3692872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IT, Reception, Management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HR, Marketing, Logisztika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Fejlesztés, Ügyfélszolgálat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Guest, Admin, Native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42842" y="2491532"/>
            <a:ext cx="4005039" cy="1674540"/>
          </a:xfrm>
          <a:prstGeom prst="roundRect">
            <a:avLst>
              <a:gd name="adj" fmla="val 7619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4798888" y="264757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BOLT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98888" y="2954089"/>
            <a:ext cx="3692947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Kassza, Iroda, Raktár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(kamerák)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Guest, Admin, Native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IPv4 + IPv6 dual-stack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4307830"/>
            <a:ext cx="4004965" cy="1398166"/>
          </a:xfrm>
          <a:prstGeom prst="roundRect">
            <a:avLst>
              <a:gd name="adj" fmla="val 9126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652165" y="446387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GYÁRTÁS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2165" y="4770388"/>
            <a:ext cx="3692872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IT, Reception, Management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Office, Production (PLC-k)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Warehouse, Guest, Admin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42842" y="4307830"/>
            <a:ext cx="4005039" cy="1398166"/>
          </a:xfrm>
          <a:prstGeom prst="roundRect">
            <a:avLst>
              <a:gd name="adj" fmla="val 9126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2"/>
          <p:cNvSpPr/>
          <p:nvPr/>
        </p:nvSpPr>
        <p:spPr>
          <a:xfrm>
            <a:off x="4798888" y="446387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CSOMAGOLÁS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98888" y="4770388"/>
            <a:ext cx="3692947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IT, Reception, Management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Logisztika, Packing (PLC-k)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Warehouse, Guest, Admin</a:t>
            </a:r>
            <a:endParaRPr lang="en-US" sz="1100" dirty="0"/>
          </a:p>
        </p:txBody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037CBA2F-C58C-0345-51A3-3336F943B46F}"/>
              </a:ext>
            </a:extLst>
          </p:cNvPr>
          <p:cNvSpPr/>
          <p:nvPr/>
        </p:nvSpPr>
        <p:spPr>
          <a:xfrm>
            <a:off x="7926438" y="6560495"/>
            <a:ext cx="1204840" cy="2913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7" name="Ábra 16">
            <a:extLst>
              <a:ext uri="{FF2B5EF4-FFF2-40B4-BE49-F238E27FC236}">
                <a16:creationId xmlns:a16="http://schemas.microsoft.com/office/drawing/2014/main" id="{BCB633AA-4DF7-C84A-1B85-6F4C822BB4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4228" y="6297060"/>
            <a:ext cx="1204840" cy="4926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58962"/>
            <a:ext cx="479531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Redundancia és Biztonság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5630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L2 Redundancia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019523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Rapid PVST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VLAN-onkénti feszítőfa, gyors topológiaváltás. </a:t>
            </a: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EtherChannel (LACP)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2 fizikai port logikai linkké aggregálva, növelt sávszélesség és redundancia.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841724"/>
            <a:ext cx="24188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L3 Redundancia – HSRP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3204939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KÖZPONT két routere virtuális átjárót biztosít. A forgalom VLAN-onként megoszlik a két router között; meghibásodás esetén automatikus átvétel.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402714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Hálózatbiztonság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4390355"/>
            <a:ext cx="3902943" cy="1559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DAI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ARP-spoofing elleni védelem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DHCP Snooping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hamis DHCP szerver tiltása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Storm Control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broadcast limit 40%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PortFast + BPDU Guard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gyors csatlakozás, jogosulatlan switch tiltása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SSH + titkosított jelszavak</a:t>
            </a: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eszközbiztonság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701" y="1805285"/>
            <a:ext cx="3902943" cy="3902943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701" y="1805285"/>
            <a:ext cx="3902943" cy="3902943"/>
          </a:xfrm>
          <a:prstGeom prst="rect">
            <a:avLst/>
          </a:prstGeom>
        </p:spPr>
      </p:pic>
      <p:sp>
        <p:nvSpPr>
          <p:cNvPr id="11" name="Téglalap 10">
            <a:extLst>
              <a:ext uri="{FF2B5EF4-FFF2-40B4-BE49-F238E27FC236}">
                <a16:creationId xmlns:a16="http://schemas.microsoft.com/office/drawing/2014/main" id="{C6E1C4E3-E9CE-2865-EF3B-38A7AA70C815}"/>
              </a:ext>
            </a:extLst>
          </p:cNvPr>
          <p:cNvSpPr/>
          <p:nvPr/>
        </p:nvSpPr>
        <p:spPr>
          <a:xfrm>
            <a:off x="7926438" y="6560495"/>
            <a:ext cx="1204840" cy="2913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2" name="Ábra 11">
            <a:extLst>
              <a:ext uri="{FF2B5EF4-FFF2-40B4-BE49-F238E27FC236}">
                <a16:creationId xmlns:a16="http://schemas.microsoft.com/office/drawing/2014/main" id="{CADBA149-98BA-C5BE-E359-2620EBED20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14228" y="6297060"/>
            <a:ext cx="1204840" cy="4926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88379" y="456828"/>
            <a:ext cx="4738241" cy="828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Site-to-Site Kapcsolat és Forgalomirányítás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488379" y="1471315"/>
            <a:ext cx="4738241" cy="1190774"/>
          </a:xfrm>
          <a:prstGeom prst="roundRect">
            <a:avLst>
              <a:gd name="adj" fmla="val 5759"/>
            </a:avLst>
          </a:prstGeom>
          <a:solidFill>
            <a:srgbClr val="030303">
              <a:alpha val="75000"/>
            </a:srgbClr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hape 3"/>
          <p:cNvSpPr/>
          <p:nvPr/>
        </p:nvSpPr>
        <p:spPr>
          <a:xfrm>
            <a:off x="474092" y="1471315"/>
            <a:ext cx="57150" cy="1190774"/>
          </a:xfrm>
          <a:prstGeom prst="roundRect">
            <a:avLst>
              <a:gd name="adj" fmla="val 208779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8" name="Text 4"/>
          <p:cNvSpPr/>
          <p:nvPr/>
        </p:nvSpPr>
        <p:spPr>
          <a:xfrm>
            <a:off x="678061" y="1618134"/>
            <a:ext cx="21143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GRE Alagút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78061" y="1899568"/>
            <a:ext cx="4401741" cy="615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KÖZPONT és BOLT között két független GRE tunnel (Tunnel1: 192.168.100.x, Tunnel2: 192.168.200.x). Ha az egyik kiesik, a másik átveszi a forgalmat.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88379" y="2786063"/>
            <a:ext cx="4738241" cy="985540"/>
          </a:xfrm>
          <a:prstGeom prst="roundRect">
            <a:avLst>
              <a:gd name="adj" fmla="val 6959"/>
            </a:avLst>
          </a:prstGeom>
          <a:solidFill>
            <a:srgbClr val="030303">
              <a:alpha val="75000"/>
            </a:srgbClr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Shape 7"/>
          <p:cNvSpPr/>
          <p:nvPr/>
        </p:nvSpPr>
        <p:spPr>
          <a:xfrm>
            <a:off x="474092" y="2786063"/>
            <a:ext cx="57150" cy="985540"/>
          </a:xfrm>
          <a:prstGeom prst="roundRect">
            <a:avLst>
              <a:gd name="adj" fmla="val 208779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2" name="Text 8"/>
          <p:cNvSpPr/>
          <p:nvPr/>
        </p:nvSpPr>
        <p:spPr>
          <a:xfrm>
            <a:off x="678061" y="2932881"/>
            <a:ext cx="21143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IPsec VPN Titkosítás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78061" y="3214315"/>
            <a:ext cx="4401741" cy="410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GRE fölé IPsec réteg: </a:t>
            </a:r>
            <a:r>
              <a:rPr lang="en-US" sz="10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AES-256</a:t>
            </a: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titkosítás, </a:t>
            </a:r>
            <a:r>
              <a:rPr lang="en-US" sz="10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SHA-256</a:t>
            </a: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hash, előre megosztott kulcs. MTU csökkentve a fragmentáció elkerülésére.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88379" y="3895576"/>
            <a:ext cx="4738241" cy="1190774"/>
          </a:xfrm>
          <a:prstGeom prst="roundRect">
            <a:avLst>
              <a:gd name="adj" fmla="val 5759"/>
            </a:avLst>
          </a:prstGeom>
          <a:solidFill>
            <a:srgbClr val="030303">
              <a:alpha val="75000"/>
            </a:srgbClr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Shape 11"/>
          <p:cNvSpPr/>
          <p:nvPr/>
        </p:nvSpPr>
        <p:spPr>
          <a:xfrm>
            <a:off x="474092" y="3895576"/>
            <a:ext cx="57150" cy="1190774"/>
          </a:xfrm>
          <a:prstGeom prst="roundRect">
            <a:avLst>
              <a:gd name="adj" fmla="val 208779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6" name="Text 12"/>
          <p:cNvSpPr/>
          <p:nvPr/>
        </p:nvSpPr>
        <p:spPr>
          <a:xfrm>
            <a:off x="678061" y="4042395"/>
            <a:ext cx="21143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Forgalomirányítás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78061" y="4323829"/>
            <a:ext cx="4401741" cy="615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WAN felé statikus alapértelmezett útvonalak. BOLT–KÖZPONT között statikus tunnel-útvonalak prioritással. TERMELÉS telephelyen </a:t>
            </a:r>
            <a:r>
              <a:rPr lang="en-US" sz="10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OSPF</a:t>
            </a: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dinamikus routing MD5 hitelesítéssel.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88379" y="5210324"/>
            <a:ext cx="4738241" cy="1190774"/>
          </a:xfrm>
          <a:prstGeom prst="roundRect">
            <a:avLst>
              <a:gd name="adj" fmla="val 5759"/>
            </a:avLst>
          </a:prstGeom>
          <a:solidFill>
            <a:srgbClr val="030303">
              <a:alpha val="75000"/>
            </a:srgbClr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Shape 15"/>
          <p:cNvSpPr/>
          <p:nvPr/>
        </p:nvSpPr>
        <p:spPr>
          <a:xfrm>
            <a:off x="474092" y="5210324"/>
            <a:ext cx="57150" cy="1190774"/>
          </a:xfrm>
          <a:prstGeom prst="roundRect">
            <a:avLst>
              <a:gd name="adj" fmla="val 208779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20" name="Text 16"/>
          <p:cNvSpPr/>
          <p:nvPr/>
        </p:nvSpPr>
        <p:spPr>
          <a:xfrm>
            <a:off x="678061" y="5357143"/>
            <a:ext cx="2114327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NAT / PAT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78061" y="5638577"/>
            <a:ext cx="4401741" cy="615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KÖZPONT: statikus NAT szervereknek + dinamikus overload pool (204.231.55.0/26). BOLT és TERMELÉS: PAT overload egyetlen publikus IP-re.</a:t>
            </a:r>
            <a:endParaRPr lang="en-US" sz="1000" dirty="0"/>
          </a:p>
        </p:txBody>
      </p:sp>
      <p:sp>
        <p:nvSpPr>
          <p:cNvPr id="24" name="Téglalap 23">
            <a:extLst>
              <a:ext uri="{FF2B5EF4-FFF2-40B4-BE49-F238E27FC236}">
                <a16:creationId xmlns:a16="http://schemas.microsoft.com/office/drawing/2014/main" id="{61328F1B-2E8B-39CE-1FFC-8D3944AB72D0}"/>
              </a:ext>
            </a:extLst>
          </p:cNvPr>
          <p:cNvSpPr/>
          <p:nvPr/>
        </p:nvSpPr>
        <p:spPr>
          <a:xfrm>
            <a:off x="7926438" y="6560495"/>
            <a:ext cx="1204840" cy="2913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25" name="Ábra 24">
            <a:extLst>
              <a:ext uri="{FF2B5EF4-FFF2-40B4-BE49-F238E27FC236}">
                <a16:creationId xmlns:a16="http://schemas.microsoft.com/office/drawing/2014/main" id="{281E318C-A5D0-C47F-39B9-C3298BF8F6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4228" y="6297060"/>
            <a:ext cx="1204840" cy="4926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02319"/>
            <a:ext cx="410006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Szerverszolgáltatások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283182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Windows Szerver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3138339"/>
            <a:ext cx="2599134" cy="1509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Active Directory (SSO, OU struktúra)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GPO – jelszóházirend, szoftvertelepítés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DHCP, DNS, IIS webszerver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SMB fájlmegosztás (U: és S: meghajtók)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272433" y="283182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Linux Szerver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272433" y="3138339"/>
            <a:ext cx="2599134" cy="128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RADIUS (FreeRADIUS) – Wi-Fi hitelesítés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NTP időszinkronizáció (Stratum 2)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TFTP – eszközkonfiguráció mentés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SSH – biztonságos távoli elérés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048747" y="283182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Zabbix Szerver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048747" y="3138339"/>
            <a:ext cx="2599134" cy="1736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SNMP + Agent alapú monitorozás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E-mail riasztások kritikus eseményekre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+ SSH automatizáció (autosave.py)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Grafikus konfiguráló eszköz (qube_conf.py)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96119" y="5034186"/>
            <a:ext cx="8151763" cy="602382"/>
          </a:xfrm>
          <a:prstGeom prst="roundRect">
            <a:avLst>
              <a:gd name="adj" fmla="val 21181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5249242"/>
            <a:ext cx="177180" cy="14175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56816" y="5211366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Napi 03:00-kor automatikus konfigurációmentés TFTP-re és szervermentés – Disaster Recovery biztosítva.</a:t>
            </a:r>
            <a:endParaRPr lang="en-US" sz="1100" dirty="0"/>
          </a:p>
        </p:txBody>
      </p:sp>
      <p:sp>
        <p:nvSpPr>
          <p:cNvPr id="21" name="Téglalap 20">
            <a:extLst>
              <a:ext uri="{FF2B5EF4-FFF2-40B4-BE49-F238E27FC236}">
                <a16:creationId xmlns:a16="http://schemas.microsoft.com/office/drawing/2014/main" id="{28D5BF15-A4C7-BFBE-0524-AE48186BA861}"/>
              </a:ext>
            </a:extLst>
          </p:cNvPr>
          <p:cNvSpPr/>
          <p:nvPr/>
        </p:nvSpPr>
        <p:spPr>
          <a:xfrm>
            <a:off x="7926438" y="6560495"/>
            <a:ext cx="1204840" cy="2913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22" name="Ábra 21">
            <a:extLst>
              <a:ext uri="{FF2B5EF4-FFF2-40B4-BE49-F238E27FC236}">
                <a16:creationId xmlns:a16="http://schemas.microsoft.com/office/drawing/2014/main" id="{E55BB6F5-CF03-58E3-6CF3-E58E88B158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4228" y="6297060"/>
            <a:ext cx="1204840" cy="492686"/>
          </a:xfrm>
          <a:prstGeom prst="rect">
            <a:avLst/>
          </a:prstGeom>
        </p:spPr>
      </p:pic>
      <p:pic>
        <p:nvPicPr>
          <p:cNvPr id="24" name="Kép 23">
            <a:extLst>
              <a:ext uri="{FF2B5EF4-FFF2-40B4-BE49-F238E27FC236}">
                <a16:creationId xmlns:a16="http://schemas.microsoft.com/office/drawing/2014/main" id="{C029F7FD-3423-DF2A-DA2D-4A515B384A6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763" t="17056" r="24367" b="18617"/>
          <a:stretch>
            <a:fillRect/>
          </a:stretch>
        </p:blipFill>
        <p:spPr>
          <a:xfrm>
            <a:off x="6710809" y="1866430"/>
            <a:ext cx="678944" cy="826058"/>
          </a:xfrm>
          <a:prstGeom prst="rect">
            <a:avLst/>
          </a:prstGeom>
        </p:spPr>
      </p:pic>
      <p:pic>
        <p:nvPicPr>
          <p:cNvPr id="29" name="Kép 28" descr="File:Openlogo-debianV2.svg - Wikimedia Commons">
            <a:extLst>
              <a:ext uri="{FF2B5EF4-FFF2-40B4-BE49-F238E27FC236}">
                <a16:creationId xmlns:a16="http://schemas.microsoft.com/office/drawing/2014/main" id="{4BB44BF9-BEE0-54FE-3B01-AFC8E21B80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7572" y="1859320"/>
            <a:ext cx="678944" cy="840278"/>
          </a:xfrm>
          <a:prstGeom prst="rect">
            <a:avLst/>
          </a:prstGeom>
        </p:spPr>
      </p:pic>
      <p:pic>
        <p:nvPicPr>
          <p:cNvPr id="30" name="Kép 29" descr="Fájl:Windows logo - 2012 (dark blue).svg – Wikipédia">
            <a:extLst>
              <a:ext uri="{FF2B5EF4-FFF2-40B4-BE49-F238E27FC236}">
                <a16:creationId xmlns:a16="http://schemas.microsoft.com/office/drawing/2014/main" id="{94052C70-3CE9-5D00-287A-9B835F86AE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6473" y="1840388"/>
            <a:ext cx="852100" cy="852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0" y="0"/>
            <a:ext cx="3429000" cy="6858000"/>
          </a:xfrm>
          <a:prstGeom prst="rect">
            <a:avLst/>
          </a:prstGeom>
          <a:solidFill>
            <a:srgbClr val="DFDFE0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4" name="Image 1"/>
          <p:cNvPicPr>
            <a:picLocks noChangeAspect="1"/>
          </p:cNvPicPr>
          <p:nvPr/>
        </p:nvPicPr>
        <p:blipFill>
          <a:blip r:embed="rId4"/>
          <a:srcRect t="17070" b="17070"/>
          <a:stretch>
            <a:fillRect/>
          </a:stretch>
        </p:blipFill>
        <p:spPr>
          <a:xfrm rot="5400000">
            <a:off x="3958483" y="1714500"/>
            <a:ext cx="6942034" cy="3429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6119" y="788715"/>
            <a:ext cx="425172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Prototípus és Tesztelés</a:t>
            </a:r>
            <a:endParaRPr lang="en-US" sz="2750" dirty="0"/>
          </a:p>
        </p:txBody>
      </p:sp>
      <p:sp>
        <p:nvSpPr>
          <p:cNvPr id="6" name="Text 2"/>
          <p:cNvSpPr/>
          <p:nvPr/>
        </p:nvSpPr>
        <p:spPr>
          <a:xfrm>
            <a:off x="496119" y="1444303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prototípus a Győri Jedlik Ányos Technikumban valósult meg, 5 napon át. Valós Cisco eszközök + VirtualBox virtualizált szerverek, szimulált ISP routerrel összekötve.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496119" y="2284214"/>
            <a:ext cx="4722763" cy="2569518"/>
          </a:xfrm>
          <a:prstGeom prst="roundRect">
            <a:avLst>
              <a:gd name="adj" fmla="val 4966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Shape 4"/>
          <p:cNvSpPr/>
          <p:nvPr/>
        </p:nvSpPr>
        <p:spPr>
          <a:xfrm>
            <a:off x="510406" y="2298502"/>
            <a:ext cx="4694188" cy="1270471"/>
          </a:xfrm>
          <a:prstGeom prst="roundRect">
            <a:avLst>
              <a:gd name="adj" fmla="val 10043"/>
            </a:avLst>
          </a:prstGeom>
          <a:solidFill>
            <a:srgbClr val="030303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9" name="Text 5"/>
          <p:cNvSpPr/>
          <p:nvPr/>
        </p:nvSpPr>
        <p:spPr>
          <a:xfrm>
            <a:off x="652165" y="244026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✅</a:t>
            </a: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 Beépítve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52165" y="2746772"/>
            <a:ext cx="441067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STP, EtherChannel, HSRP, DAI, DHCP Snooping, ACL, NAT, GRE, statikus routing, AD, DHCP, DNS, IIS, fájlmegosztás, NTP, Zabbix, automatizáció, dual-stack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10406" y="3568973"/>
            <a:ext cx="4668813" cy="1212577"/>
          </a:xfrm>
          <a:prstGeom prst="rect">
            <a:avLst/>
          </a:prstGeom>
          <a:solidFill>
            <a:srgbClr val="030303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2" name="Shape 8"/>
          <p:cNvSpPr/>
          <p:nvPr/>
        </p:nvSpPr>
        <p:spPr>
          <a:xfrm>
            <a:off x="510406" y="3568973"/>
            <a:ext cx="4694188" cy="19050"/>
          </a:xfrm>
          <a:prstGeom prst="roundRect">
            <a:avLst>
              <a:gd name="adj" fmla="val 669768"/>
            </a:avLst>
          </a:prstGeom>
          <a:solidFill>
            <a:srgbClr val="E2691D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3" name="Text 9"/>
          <p:cNvSpPr/>
          <p:nvPr/>
        </p:nvSpPr>
        <p:spPr>
          <a:xfrm>
            <a:off x="652165" y="3710732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⚠️</a:t>
            </a:r>
            <a:r>
              <a:rPr lang="en-US" sz="1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 Részben / Nem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52165" y="4017243"/>
            <a:ext cx="441067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Dinamikus OSPF routing – nem beépítve. Wi-Fi VLAN szegmentálás – részben. IPsec, CHAP, SSH router menedzsment – eszközkorlátok miatt kihagyva.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96119" y="5013201"/>
            <a:ext cx="4722763" cy="1056010"/>
          </a:xfrm>
          <a:prstGeom prst="roundRect">
            <a:avLst>
              <a:gd name="adj" fmla="val 12082"/>
            </a:avLst>
          </a:prstGeom>
          <a:solidFill>
            <a:srgbClr val="183A13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877" y="5228258"/>
            <a:ext cx="177180" cy="1417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56816" y="5190381"/>
            <a:ext cx="412030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Részletes tesztelési dokumentáció: QUBE_tesztelesi_dokumentacio.pdf · Bemutató videó: QUBE_prototipus.mp4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AE0BE-ECCE-8A2B-60AF-F8A53FAA9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DF9D31F-3535-299C-78D0-A4618276C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6858000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994C0FED-513F-E0FB-4EE3-8F9BE1814976}"/>
              </a:ext>
            </a:extLst>
          </p:cNvPr>
          <p:cNvSpPr/>
          <p:nvPr/>
        </p:nvSpPr>
        <p:spPr>
          <a:xfrm>
            <a:off x="496119" y="2543845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hu-HU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KÖSZÖNJÜK A FIGYELMET!</a:t>
            </a:r>
            <a:endParaRPr lang="en-US" sz="275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F44B92E8-7362-EF83-4067-C4B6CFB9134F}"/>
              </a:ext>
            </a:extLst>
          </p:cNvPr>
          <p:cNvSpPr/>
          <p:nvPr/>
        </p:nvSpPr>
        <p:spPr>
          <a:xfrm>
            <a:off x="496119" y="3642420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Gábriel Milán · Nyári Patrik</a:t>
            </a:r>
            <a:endParaRPr lang="en-US" sz="110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2CE01E89-3E38-F86C-1D1F-BD3D58C69C0E}"/>
              </a:ext>
            </a:extLst>
          </p:cNvPr>
          <p:cNvSpPr/>
          <p:nvPr/>
        </p:nvSpPr>
        <p:spPr>
          <a:xfrm>
            <a:off x="496119" y="4038228"/>
            <a:ext cx="1685330" cy="266402"/>
          </a:xfrm>
          <a:prstGeom prst="roundRect">
            <a:avLst>
              <a:gd name="adj" fmla="val 38315"/>
            </a:avLst>
          </a:prstGeom>
          <a:solidFill>
            <a:srgbClr val="4B1E01"/>
          </a:solidFill>
          <a:ln/>
        </p:spPr>
        <p:txBody>
          <a:bodyPr/>
          <a:lstStyle/>
          <a:p>
            <a:endParaRPr lang="hu-HU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09D230AD-2781-2122-7814-9AF8A5CC4E7D}"/>
              </a:ext>
            </a:extLst>
          </p:cNvPr>
          <p:cNvSpPr/>
          <p:nvPr/>
        </p:nvSpPr>
        <p:spPr>
          <a:xfrm>
            <a:off x="581174" y="4080718"/>
            <a:ext cx="197241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hu-HU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HÁLÓZAT ÉS SZOLGÁLTATÁS</a:t>
            </a:r>
            <a:endParaRPr lang="en-US" sz="85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5FEEAF32-30C3-FD18-12C3-B0DDBC072B93}"/>
              </a:ext>
            </a:extLst>
          </p:cNvPr>
          <p:cNvSpPr/>
          <p:nvPr/>
        </p:nvSpPr>
        <p:spPr>
          <a:xfrm>
            <a:off x="2252290" y="4028703"/>
            <a:ext cx="443954" cy="285452"/>
          </a:xfrm>
          <a:prstGeom prst="roundRect">
            <a:avLst>
              <a:gd name="adj" fmla="val 35758"/>
            </a:avLst>
          </a:prstGeom>
          <a:noFill/>
          <a:ln w="9525">
            <a:solidFill>
              <a:srgbClr val="FC833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7CC6584A-7B87-740A-068D-0300F66644AB}"/>
              </a:ext>
            </a:extLst>
          </p:cNvPr>
          <p:cNvSpPr/>
          <p:nvPr/>
        </p:nvSpPr>
        <p:spPr>
          <a:xfrm>
            <a:off x="2346871" y="4080718"/>
            <a:ext cx="71199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FC83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850" dirty="0"/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EFAFA628-1287-C9C6-9121-94500713785D}"/>
              </a:ext>
            </a:extLst>
          </p:cNvPr>
          <p:cNvSpPr/>
          <p:nvPr/>
        </p:nvSpPr>
        <p:spPr>
          <a:xfrm>
            <a:off x="7926438" y="6560495"/>
            <a:ext cx="1204840" cy="2913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4466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770</Words>
  <Application>Microsoft Office PowerPoint</Application>
  <PresentationFormat>Diavetítés a képernyőre (4:3 oldalarány)</PresentationFormat>
  <Paragraphs>120</Paragraphs>
  <Slides>10</Slides>
  <Notes>10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4" baseType="lpstr">
      <vt:lpstr>Saira Medium</vt:lpstr>
      <vt:lpstr>Roboto</vt:lpstr>
      <vt:lpstr>Arial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pat</dc:creator>
  <cp:lastModifiedBy>O365 felhasználó</cp:lastModifiedBy>
  <cp:revision>3</cp:revision>
  <dcterms:created xsi:type="dcterms:W3CDTF">2026-05-18T13:36:23Z</dcterms:created>
  <dcterms:modified xsi:type="dcterms:W3CDTF">2026-05-25T17:57:38Z</dcterms:modified>
</cp:coreProperties>
</file>