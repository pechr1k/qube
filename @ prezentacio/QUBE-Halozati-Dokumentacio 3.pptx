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4" r:id="rId11"/>
    <p:sldId id="269" r:id="rId12"/>
    <p:sldId id="275" r:id="rId13"/>
    <p:sldId id="271" r:id="rId14"/>
    <p:sldId id="272" r:id="rId15"/>
    <p:sldId id="265" r:id="rId16"/>
    <p:sldId id="267" r:id="rId17"/>
  </p:sldIdLst>
  <p:sldSz cx="9144000" cy="6858000" type="screen4x3"/>
  <p:notesSz cx="6858000" cy="9144000"/>
  <p:embeddedFontLs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Saira Medium" panose="020B0604020202020204" charset="-18"/>
      <p:regular r:id="rId23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5F2B46-0A22-4865-B737-D1C3354883B9}" v="1145" dt="2026-05-27T16:11:37.574"/>
    <p1510:client id="{CC34C918-BB2A-4EF6-A5E8-31E75F19E888}" v="7" dt="2026-05-27T16:12:21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8146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638BB-1D39-11D0-C991-F4552B725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6BFE9-7B80-B118-394F-97C57B27F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B3D04-0EA1-76B6-555F-2110B7417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B97AF-43EA-5599-ED87-50F1DCD685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364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CD156-7CBD-6585-524B-9CA5922BD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54AA8-008B-48E3-998B-0F5124907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F40C6-DAAE-EF6B-FE34-D537AEBF6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DBE6A-2262-2778-1400-75C049FA9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149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839C0-FC87-D9FA-98D7-7236BBAA0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EF4D1-560E-5BAF-4A43-52CAC1C27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673CF5-E804-C2F3-DD62-C52F21345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B8DF7-A5FF-16D9-C120-094BB2D7AA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967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70FD7-2E4E-4A32-805D-513F3088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2EC67-D80D-D9FF-60B5-F80DDA2DE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C2359-FC05-3BA1-B675-32D5AE225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DD83F-833A-0FEB-E86D-B92602345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046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40AE8-EB3B-D72D-3494-26CE182ED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817133-467F-0680-83B0-9E1F0320A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892FA-FF3A-50FD-99FA-49572B8B4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6AF9C-4CA9-486F-22E8-579B2B5D2C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8683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74D82-9DD0-49E9-BE58-ADE1DF37C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453A1-0FCC-2AC5-C46C-0569E73BE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1EB09-CFB0-9B86-723D-F55451600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1CDA2-91CD-8B45-3703-B8EA42BDF4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67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EBF8-2F34-DEAC-975C-3AE6A7EF7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0DAA5-7E5A-8861-CC18-31E4D1020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91150-B013-F981-E0BF-D3F26E4A9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2D7EA-497C-A1A5-FD5E-A49A0F32E1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48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254384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QUBE – </a:t>
            </a:r>
            <a:r>
              <a:rPr lang="en-US" sz="2750" dirty="0" err="1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Hálózati</a:t>
            </a:r>
            <a:endParaRPr lang="hu-HU" sz="2750" dirty="0">
              <a:solidFill>
                <a:srgbClr val="FFFFFF"/>
              </a:solidFill>
              <a:latin typeface="Saira Medium" pitchFamily="34" charset="0"/>
              <a:ea typeface="Saira Medium" pitchFamily="34" charset="-122"/>
              <a:cs typeface="Saira Medium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hu-HU" sz="2750" dirty="0">
                <a:solidFill>
                  <a:srgbClr val="FFFFFF"/>
                </a:solidFill>
                <a:latin typeface="Saira Medium" pitchFamily="34" charset="0"/>
              </a:rPr>
              <a:t>Bemutató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496119" y="364242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Gábriel Milán · Nyári Patrik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496119" y="4038228"/>
            <a:ext cx="1685330" cy="266402"/>
          </a:xfrm>
          <a:prstGeom prst="roundRect">
            <a:avLst>
              <a:gd name="adj" fmla="val 38315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hu-HU" dirty="0"/>
          </a:p>
        </p:txBody>
      </p:sp>
      <p:sp>
        <p:nvSpPr>
          <p:cNvPr id="8" name="Text 4"/>
          <p:cNvSpPr/>
          <p:nvPr/>
        </p:nvSpPr>
        <p:spPr>
          <a:xfrm>
            <a:off x="581174" y="4080718"/>
            <a:ext cx="197241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hu-HU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HÁLÓZAT ÉS SZOLGÁLTATÁS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252290" y="4028703"/>
            <a:ext cx="443954" cy="285452"/>
          </a:xfrm>
          <a:prstGeom prst="roundRect">
            <a:avLst>
              <a:gd name="adj" fmla="val 35758"/>
            </a:avLst>
          </a:prstGeom>
          <a:noFill/>
          <a:ln w="9525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6"/>
          <p:cNvSpPr/>
          <p:nvPr/>
        </p:nvSpPr>
        <p:spPr>
          <a:xfrm>
            <a:off x="2346871" y="4080718"/>
            <a:ext cx="71199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850" dirty="0"/>
          </a:p>
        </p:txBody>
      </p:sp>
      <p:pic>
        <p:nvPicPr>
          <p:cNvPr id="12" name="Ábra 11">
            <a:extLst>
              <a:ext uri="{FF2B5EF4-FFF2-40B4-BE49-F238E27FC236}">
                <a16:creationId xmlns:a16="http://schemas.microsoft.com/office/drawing/2014/main" id="{31F540D0-E4C8-E770-06DA-240979293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9873" y="2597499"/>
            <a:ext cx="4070800" cy="1664640"/>
          </a:xfrm>
          <a:prstGeom prst="rect">
            <a:avLst/>
          </a:prstGeom>
        </p:spPr>
      </p:pic>
      <p:sp>
        <p:nvSpPr>
          <p:cNvPr id="13" name="Téglalap 12">
            <a:extLst>
              <a:ext uri="{FF2B5EF4-FFF2-40B4-BE49-F238E27FC236}">
                <a16:creationId xmlns:a16="http://schemas.microsoft.com/office/drawing/2014/main" id="{F2ED7247-88FB-855C-1768-019F6857C0B1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églalap 16">
            <a:extLst>
              <a:ext uri="{FF2B5EF4-FFF2-40B4-BE49-F238E27FC236}">
                <a16:creationId xmlns:a16="http://schemas.microsoft.com/office/drawing/2014/main" id="{2ABB9EC3-E8A7-02CE-FB5D-849C5B0E0CBF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4" name="Image 1"/>
          <p:cNvPicPr>
            <a:picLocks noChangeAspect="1"/>
          </p:cNvPicPr>
          <p:nvPr/>
        </p:nvPicPr>
        <p:blipFill>
          <a:blip r:embed="rId4"/>
          <a:srcRect l="43660" t="-269" r="23006" b="269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65422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Cégünkről</a:t>
            </a:r>
            <a:endParaRPr lang="en-US" sz="2750" dirty="0"/>
          </a:p>
        </p:txBody>
      </p:sp>
      <p:sp>
        <p:nvSpPr>
          <p:cNvPr id="6" name="Shape 2"/>
          <p:cNvSpPr/>
          <p:nvPr/>
        </p:nvSpPr>
        <p:spPr>
          <a:xfrm>
            <a:off x="3925119" y="2309813"/>
            <a:ext cx="2290465" cy="1293688"/>
          </a:xfrm>
          <a:prstGeom prst="roundRect">
            <a:avLst>
              <a:gd name="adj" fmla="val 9863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3"/>
          <p:cNvSpPr/>
          <p:nvPr/>
        </p:nvSpPr>
        <p:spPr>
          <a:xfrm>
            <a:off x="4081165" y="246585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Győr – Gyártás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81165" y="2772370"/>
            <a:ext cx="19783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gyártóbázis, kompakt mini PC-k előállítása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357342" y="2309813"/>
            <a:ext cx="2290539" cy="1293688"/>
          </a:xfrm>
          <a:prstGeom prst="roundRect">
            <a:avLst>
              <a:gd name="adj" fmla="val 9863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6"/>
          <p:cNvSpPr/>
          <p:nvPr/>
        </p:nvSpPr>
        <p:spPr>
          <a:xfrm>
            <a:off x="6513388" y="2465859"/>
            <a:ext cx="1978447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Székesfehérvár – Központ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513388" y="2993827"/>
            <a:ext cx="1978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Irodai és fejlesztési központ, IT infrastruktúra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925119" y="3745260"/>
            <a:ext cx="4722763" cy="845418"/>
          </a:xfrm>
          <a:prstGeom prst="roundRect">
            <a:avLst>
              <a:gd name="adj" fmla="val 15092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9"/>
          <p:cNvSpPr/>
          <p:nvPr/>
        </p:nvSpPr>
        <p:spPr>
          <a:xfrm>
            <a:off x="4081165" y="390130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Nyíregyháza – Bolt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081165" y="4207818"/>
            <a:ext cx="48678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Kiskereskedelmi telephely, termékbemutató és értékesítés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925119" y="475014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QUBE MiniPC Kft. megbízható, helyben gyártott technológiai megoldásokat kínál otthoni és üzleti felhasználók számára.</a:t>
            </a:r>
            <a:endParaRPr lang="en-US" sz="1100" dirty="0"/>
          </a:p>
        </p:txBody>
      </p:sp>
      <p:pic>
        <p:nvPicPr>
          <p:cNvPr id="16" name="Ábra 15">
            <a:extLst>
              <a:ext uri="{FF2B5EF4-FFF2-40B4-BE49-F238E27FC236}">
                <a16:creationId xmlns:a16="http://schemas.microsoft.com/office/drawing/2014/main" id="{F1A68A9E-8568-77BC-1B4C-8FB2BD4703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770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50" dirty="0">
                <a:solidFill>
                  <a:srgbClr val="FFFFFF"/>
                </a:solidFill>
                <a:latin typeface="Saira Medium"/>
              </a:rPr>
              <a:t>Tea</a:t>
            </a:r>
            <a:r>
              <a:rPr lang="hu-HU" sz="2750" dirty="0">
                <a:solidFill>
                  <a:srgbClr val="FFFFFF"/>
                </a:solidFill>
                <a:latin typeface="Saira Medium"/>
              </a:rPr>
              <a:t>m</a:t>
            </a:r>
            <a:r>
              <a:rPr lang="en-US" sz="2750" dirty="0">
                <a:solidFill>
                  <a:srgbClr val="FFFFFF"/>
                </a:solidFill>
                <a:latin typeface="Saira Medium"/>
              </a:rPr>
              <a:t> Roles &amp; </a:t>
            </a:r>
            <a:r>
              <a:rPr lang="en-US" sz="2750" dirty="0" err="1">
                <a:solidFill>
                  <a:srgbClr val="FFFFFF"/>
                </a:solidFill>
                <a:latin typeface="Saira Medium"/>
              </a:rPr>
              <a:t>Responsibilites</a:t>
            </a:r>
            <a:endParaRPr lang="en-US" sz="2750" dirty="0">
              <a:solidFill>
                <a:srgbClr val="FFFFFF"/>
              </a:solidFill>
              <a:latin typeface="Saira Medium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74201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>
                <a:solidFill>
                  <a:srgbClr val="FFFFFF"/>
                </a:solidFill>
                <a:latin typeface="Saira Medium"/>
              </a:rPr>
              <a:t>Project goal</a:t>
            </a:r>
          </a:p>
        </p:txBody>
      </p:sp>
      <p:sp>
        <p:nvSpPr>
          <p:cNvPr id="4" name="Text 2"/>
          <p:cNvSpPr/>
          <p:nvPr/>
        </p:nvSpPr>
        <p:spPr>
          <a:xfrm>
            <a:off x="496119" y="2105232"/>
            <a:ext cx="37329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Development of a modern, secure and redundant IT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infrastucture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 to support production, office and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connercial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proccesses</a:t>
            </a:r>
          </a:p>
        </p:txBody>
      </p:sp>
      <p:sp>
        <p:nvSpPr>
          <p:cNvPr id="5" name="Text 3"/>
          <p:cNvSpPr/>
          <p:nvPr/>
        </p:nvSpPr>
        <p:spPr>
          <a:xfrm>
            <a:off x="496119" y="292743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>
                <a:solidFill>
                  <a:srgbClr val="FFFFFF"/>
                </a:solidFill>
                <a:latin typeface="Saira Medium"/>
              </a:rPr>
              <a:t>Project Management</a:t>
            </a:r>
            <a:endParaRPr lang="en-US" sz="1350" dirty="0">
              <a:solidFill>
                <a:srgbClr val="FFFFFF"/>
              </a:solidFill>
              <a:latin typeface="Saira Medium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6119" y="3304336"/>
            <a:ext cx="3732981" cy="47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Collaboration via GitHub</a:t>
            </a:r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Task tracking and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versio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 control</a:t>
            </a:r>
          </a:p>
        </p:txBody>
      </p:sp>
      <p:sp>
        <p:nvSpPr>
          <p:cNvPr id="7" name="Shape 5"/>
          <p:cNvSpPr/>
          <p:nvPr/>
        </p:nvSpPr>
        <p:spPr>
          <a:xfrm>
            <a:off x="4646564" y="1738610"/>
            <a:ext cx="1965499" cy="1740768"/>
          </a:xfrm>
          <a:prstGeom prst="roundRect">
            <a:avLst>
              <a:gd name="adj" fmla="val 7330"/>
            </a:avLst>
          </a:prstGeom>
          <a:solidFill>
            <a:srgbClr val="030303">
              <a:alpha val="75000"/>
            </a:srgbClr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807373" y="1899419"/>
            <a:ext cx="21010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Gábriel Milán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36493" y="2281684"/>
            <a:ext cx="1785639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Server OS </a:t>
            </a: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installation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 and </a:t>
            </a: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configura</a:t>
            </a: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tion</a:t>
            </a: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Testing and </a:t>
            </a: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optimization</a:t>
            </a: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753821" y="1738610"/>
            <a:ext cx="1965573" cy="1740768"/>
          </a:xfrm>
          <a:prstGeom prst="roundRect">
            <a:avLst>
              <a:gd name="adj" fmla="val 7330"/>
            </a:avLst>
          </a:prstGeom>
          <a:solidFill>
            <a:srgbClr val="030303">
              <a:alpha val="75000"/>
            </a:srgbClr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6914630" y="1899419"/>
            <a:ext cx="210115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Nyári Patrik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14630" y="2262634"/>
            <a:ext cx="1643955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Network design </a:t>
            </a:r>
            <a:endParaRPr lang="en-US" sz="1100">
              <a:latin typeface="Roboto"/>
              <a:ea typeface="Roboto"/>
              <a:cs typeface="Roboto"/>
            </a:endParaRPr>
          </a:p>
          <a:p>
            <a:pPr marL="342900" indent="-342900">
              <a:lnSpc>
                <a:spcPct val="133000"/>
              </a:lnSpc>
              <a:buSzPct val="100000"/>
              <a:buFont typeface="Arial"/>
              <a:buChar char="•"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Topology planning</a:t>
            </a: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Scripting</a:t>
            </a: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E5E0DF"/>
                </a:solidFill>
                <a:latin typeface="Roboto"/>
                <a:ea typeface="Roboto"/>
                <a:cs typeface="Roboto"/>
              </a:rPr>
              <a:t>Dokumentation</a:t>
            </a:r>
            <a:endParaRPr lang="en-US" sz="1100" dirty="0" err="1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14D30C15-90D8-8F2F-EE8F-0408567477F6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4" name="Ábra 13">
            <a:extLst>
              <a:ext uri="{FF2B5EF4-FFF2-40B4-BE49-F238E27FC236}">
                <a16:creationId xmlns:a16="http://schemas.microsoft.com/office/drawing/2014/main" id="{A95D83E7-08A6-5AF6-A7E0-BCE0264CA8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D04E491D-B132-FFBD-DCE3-658E8E777433}"/>
              </a:ext>
            </a:extLst>
          </p:cNvPr>
          <p:cNvSpPr/>
          <p:nvPr/>
        </p:nvSpPr>
        <p:spPr>
          <a:xfrm>
            <a:off x="496119" y="392471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hu-HU" sz="1350">
                <a:solidFill>
                  <a:srgbClr val="FFFFFF"/>
                </a:solidFill>
                <a:latin typeface="Saira Medium"/>
              </a:rPr>
              <a:t>Obstacles and problems</a:t>
            </a:r>
            <a:endParaRPr lang="hu-HU" sz="1350" dirty="0">
              <a:solidFill>
                <a:srgbClr val="FFFFFF"/>
              </a:solidFill>
              <a:latin typeface="Saira Medium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98BFC85-4F0B-5E55-4565-1CCF90DCB5A4}"/>
              </a:ext>
            </a:extLst>
          </p:cNvPr>
          <p:cNvSpPr/>
          <p:nvPr/>
        </p:nvSpPr>
        <p:spPr>
          <a:xfrm>
            <a:off x="496119" y="4301619"/>
            <a:ext cx="37329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Main difficulty: OSPF loop between the two routers of the </a:t>
            </a:r>
            <a:r>
              <a:rPr lang="en-US" sz="110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center -&gt; Solved with static routes</a:t>
            </a: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03E6575E-89F1-8DB4-AC9D-83E9455AB3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" t="3560" r="6" b="32328"/>
          <a:stretch>
            <a:fillRect/>
          </a:stretch>
        </p:blipFill>
        <p:spPr>
          <a:xfrm>
            <a:off x="4646564" y="3780799"/>
            <a:ext cx="4072830" cy="1740769"/>
          </a:xfrm>
          <a:prstGeom prst="rect">
            <a:avLst/>
          </a:prstGeom>
          <a:effectLst>
            <a:softEdge rad="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0228"/>
            <a:ext cx="562659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Hálózati Topológia és IP Címzés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0506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Három telephely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68277"/>
            <a:ext cx="3902943" cy="680442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hu-HU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KÖZPONT látja el a hálózat legfőbb feladatait és biztosítja a többi telephely számára, </a:t>
            </a:r>
            <a:r>
              <a:rPr lang="hu-HU" sz="11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legredundásabb</a:t>
            </a:r>
            <a:r>
              <a:rPr lang="hu-HU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és biztonságosabb.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hu-HU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A TERMELÉS 2 épületet foglal magába és három rétegű topológiára épül. A BOLT egy egyszerű, </a:t>
            </a:r>
            <a:r>
              <a:rPr lang="hu-HU" sz="11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dualstack</a:t>
            </a:r>
            <a:r>
              <a:rPr lang="hu-HU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hálózat.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99047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IPv4 logika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353693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Privát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10.0.0.0/8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hálózat, telephelyenként /16-os alhálózatok: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708053"/>
            <a:ext cx="3902943" cy="1055936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KÖZPONT: 10.1.0.0/16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BOLT: 10.2.0.0/16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GYÁRTÁS: 10.3.0.0/16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CSOMAGOLÁS: 10.4.0.0/16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4905747"/>
            <a:ext cx="24579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IPv6 – Dual Stack (BOLT)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5268962"/>
            <a:ext cx="3902943" cy="45362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Tesztjelleggel dual-stack topológia, SLAAC-alapú kiosztás a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2a02:abcd:1234::/48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tartományból.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1" y="1805285"/>
            <a:ext cx="3902943" cy="3902943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701" y="1805285"/>
            <a:ext cx="3902943" cy="3902943"/>
          </a:xfrm>
          <a:prstGeom prst="rect">
            <a:avLst/>
          </a:prstGeom>
        </p:spPr>
      </p:pic>
      <p:sp>
        <p:nvSpPr>
          <p:cNvPr id="12" name="Téglalap 11">
            <a:extLst>
              <a:ext uri="{FF2B5EF4-FFF2-40B4-BE49-F238E27FC236}">
                <a16:creationId xmlns:a16="http://schemas.microsoft.com/office/drawing/2014/main" id="{DE3C6E45-03F3-A913-1DF5-2B6B2490E97E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3" name="Ábra 12">
            <a:extLst>
              <a:ext uri="{FF2B5EF4-FFF2-40B4-BE49-F238E27FC236}">
                <a16:creationId xmlns:a16="http://schemas.microsoft.com/office/drawing/2014/main" id="{D7A943E4-38F9-6EB7-4039-34B5E67F3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5193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VLAN Szegmentáció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7843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Minden telephelyen részletesen szegmentált VLAN struktúra biztosítja a forgalom elkülönítését, a biztonságot és a skálázhatóságot. A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999-es VLAN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natív, a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150-es ADMIN VLAN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menedzsmenthez, a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200-as GUEST VLAN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vendégeknek.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491532"/>
            <a:ext cx="4004965" cy="1674540"/>
          </a:xfrm>
          <a:prstGeom prst="roundRect">
            <a:avLst>
              <a:gd name="adj" fmla="val 761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652165" y="264757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KÖZPONT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2165" y="2954089"/>
            <a:ext cx="3692872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IT, Reception, Management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HR, Marketing, Logisztika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Fejlesztés, Ügyfélszolgálat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Guest, Admin, Native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2491532"/>
            <a:ext cx="4005039" cy="1674540"/>
          </a:xfrm>
          <a:prstGeom prst="roundRect">
            <a:avLst>
              <a:gd name="adj" fmla="val 761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798888" y="264757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BOLT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98888" y="2954089"/>
            <a:ext cx="3692947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Kassza, Iroda, Raktár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(kamerák)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Guest, Admin, Native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IPv4 + IPv6 dual-stack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4307830"/>
            <a:ext cx="4004965" cy="1398166"/>
          </a:xfrm>
          <a:prstGeom prst="roundRect">
            <a:avLst>
              <a:gd name="adj" fmla="val 912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652165" y="446387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GYÁRTÁS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2165" y="4770388"/>
            <a:ext cx="369287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IT, Reception, Management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Office, Production (PLC-k)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Warehouse, Guest, Admin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4307830"/>
            <a:ext cx="4005039" cy="1398166"/>
          </a:xfrm>
          <a:prstGeom prst="roundRect">
            <a:avLst>
              <a:gd name="adj" fmla="val 912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4798888" y="446387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CSOMAGOLÁS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98888" y="4770388"/>
            <a:ext cx="369294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IT, Reception, Management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Logisztika, Packing (PLC-k)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Warehouse, Guest, Admin</a:t>
            </a:r>
            <a:endParaRPr lang="en-US" sz="1100" dirty="0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037CBA2F-C58C-0345-51A3-3336F943B46F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7" name="Ábra 16">
            <a:extLst>
              <a:ext uri="{FF2B5EF4-FFF2-40B4-BE49-F238E27FC236}">
                <a16:creationId xmlns:a16="http://schemas.microsoft.com/office/drawing/2014/main" id="{BCB633AA-4DF7-C84A-1B85-6F4C822BB4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8962"/>
            <a:ext cx="479531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Redundancia és Biztonság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5630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L2 Redundancia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19523"/>
            <a:ext cx="3902943" cy="680442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Rapid PVST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VLAN-onkénti feszítőfa, gyors topológiaváltás.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EtherChannel (LACP)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2 fizikai port logikai linkké aggregálva, növelt sávszélesség és redundancia.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841724"/>
            <a:ext cx="2418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L3 Redundancia – HSRP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204939"/>
            <a:ext cx="3902943" cy="680442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KÖZPONT két routere virtuális átjárót biztosít. A forgalom VLAN-onként megoszlik a két router között; meghibásodás esetén automatikus átvétel.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402714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Hálózatbiztonság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4390355"/>
            <a:ext cx="3902943" cy="1559123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ARP-spoofing elleni védelem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DHCP Snooping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hamis DHCP szerver tiltása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Storm Control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broadcast limit 40%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PortFast + BPDU Guard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gyors csatlakozás, jogosulatlan switch tiltása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SSH + titkosított jelszavak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eszközbiztonság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1" y="1805285"/>
            <a:ext cx="3902943" cy="3902943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701" y="1805285"/>
            <a:ext cx="3902943" cy="3902943"/>
          </a:xfrm>
          <a:prstGeom prst="rect">
            <a:avLst/>
          </a:prstGeom>
        </p:spPr>
      </p:pic>
      <p:sp>
        <p:nvSpPr>
          <p:cNvPr id="11" name="Téglalap 10">
            <a:extLst>
              <a:ext uri="{FF2B5EF4-FFF2-40B4-BE49-F238E27FC236}">
                <a16:creationId xmlns:a16="http://schemas.microsoft.com/office/drawing/2014/main" id="{C6E1C4E3-E9CE-2865-EF3B-38A7AA70C815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2" name="Ábra 11">
            <a:extLst>
              <a:ext uri="{FF2B5EF4-FFF2-40B4-BE49-F238E27FC236}">
                <a16:creationId xmlns:a16="http://schemas.microsoft.com/office/drawing/2014/main" id="{CADBA149-98BA-C5BE-E359-2620EBED20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8379" y="456828"/>
            <a:ext cx="4738241" cy="828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Site-to-Site Kapcsolat és Forgalomirányítás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88379" y="1471315"/>
            <a:ext cx="4738241" cy="1190774"/>
          </a:xfrm>
          <a:prstGeom prst="roundRect">
            <a:avLst>
              <a:gd name="adj" fmla="val 5759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3"/>
          <p:cNvSpPr/>
          <p:nvPr/>
        </p:nvSpPr>
        <p:spPr>
          <a:xfrm>
            <a:off x="474092" y="1471315"/>
            <a:ext cx="57150" cy="1190774"/>
          </a:xfrm>
          <a:prstGeom prst="roundRect">
            <a:avLst>
              <a:gd name="adj" fmla="val 208779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Text 4"/>
          <p:cNvSpPr/>
          <p:nvPr/>
        </p:nvSpPr>
        <p:spPr>
          <a:xfrm>
            <a:off x="678061" y="1618134"/>
            <a:ext cx="21143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GRE Alagút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78061" y="1899568"/>
            <a:ext cx="4401741" cy="615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KÖZPONT és BOLT között két független GRE tunnel (Tunnel1: 192.168.100.x, Tunnel2: 192.168.200.x). Ha az egyik kiesik, a másik átveszi a forgalmat.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88379" y="2786063"/>
            <a:ext cx="4738241" cy="985540"/>
          </a:xfrm>
          <a:prstGeom prst="roundRect">
            <a:avLst>
              <a:gd name="adj" fmla="val 6959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7"/>
          <p:cNvSpPr/>
          <p:nvPr/>
        </p:nvSpPr>
        <p:spPr>
          <a:xfrm>
            <a:off x="474092" y="2786063"/>
            <a:ext cx="57150" cy="985540"/>
          </a:xfrm>
          <a:prstGeom prst="roundRect">
            <a:avLst>
              <a:gd name="adj" fmla="val 208779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Text 8"/>
          <p:cNvSpPr/>
          <p:nvPr/>
        </p:nvSpPr>
        <p:spPr>
          <a:xfrm>
            <a:off x="678061" y="2932881"/>
            <a:ext cx="21143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IPsec VPN Titkosítás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78061" y="3214315"/>
            <a:ext cx="4401741" cy="410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 fölé IPsec réteg: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AES-256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titkosítás,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SHA-256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hash, előre megosztott kulcs. MTU csökkentve a fragmentáció elkerülésére.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88379" y="3895576"/>
            <a:ext cx="4738241" cy="1190774"/>
          </a:xfrm>
          <a:prstGeom prst="roundRect">
            <a:avLst>
              <a:gd name="adj" fmla="val 5759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1"/>
          <p:cNvSpPr/>
          <p:nvPr/>
        </p:nvSpPr>
        <p:spPr>
          <a:xfrm>
            <a:off x="474092" y="3895576"/>
            <a:ext cx="57150" cy="1190774"/>
          </a:xfrm>
          <a:prstGeom prst="roundRect">
            <a:avLst>
              <a:gd name="adj" fmla="val 208779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6" name="Text 12"/>
          <p:cNvSpPr/>
          <p:nvPr/>
        </p:nvSpPr>
        <p:spPr>
          <a:xfrm>
            <a:off x="678061" y="4042395"/>
            <a:ext cx="21143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Forgalomirányítás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78061" y="4323829"/>
            <a:ext cx="4401741" cy="615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WAN felé statikus alapértelmezett útvonalak. BOLT–KÖZPONT között statikus tunnel-útvonalak prioritással. TERMELÉS telephelyen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OSPF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dinamikus routing MD5 hitelesítéssel.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88379" y="5210324"/>
            <a:ext cx="4738241" cy="1190774"/>
          </a:xfrm>
          <a:prstGeom prst="roundRect">
            <a:avLst>
              <a:gd name="adj" fmla="val 5759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5"/>
          <p:cNvSpPr/>
          <p:nvPr/>
        </p:nvSpPr>
        <p:spPr>
          <a:xfrm>
            <a:off x="474092" y="5210324"/>
            <a:ext cx="57150" cy="1190774"/>
          </a:xfrm>
          <a:prstGeom prst="roundRect">
            <a:avLst>
              <a:gd name="adj" fmla="val 208779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0" name="Text 16"/>
          <p:cNvSpPr/>
          <p:nvPr/>
        </p:nvSpPr>
        <p:spPr>
          <a:xfrm>
            <a:off x="678061" y="5357143"/>
            <a:ext cx="21143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NAT / PAT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78061" y="5638577"/>
            <a:ext cx="4401741" cy="615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KÖZPONT: statikus NAT szervereknek + dinamikus overload pool (204.231.55.0/26). BOLT és TERMELÉS: PAT overload egyetlen publikus IP-re.</a:t>
            </a:r>
            <a:endParaRPr lang="en-US" sz="1000" dirty="0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61328F1B-2E8B-39CE-1FFC-8D3944AB72D0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5" name="Ábra 24">
            <a:extLst>
              <a:ext uri="{FF2B5EF4-FFF2-40B4-BE49-F238E27FC236}">
                <a16:creationId xmlns:a16="http://schemas.microsoft.com/office/drawing/2014/main" id="{281E318C-A5D0-C47F-39B9-C3298BF8F6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2319"/>
            <a:ext cx="41000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Szerverszolgáltatások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Windows Szerver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138339"/>
            <a:ext cx="2599134" cy="150956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Directory (SSO, OU struktúra)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GPO – jelszóházirend, szoftvertelepítés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DHCP, DNS, IIS webszerver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SMB fájlmegosztás (U: és S: meghajtók)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272433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Linux Szerver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272433" y="3138339"/>
            <a:ext cx="2599134" cy="128275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RADIUS (FreeRADIUS) – Wi-Fi hitelesítés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NTP időszinkronizáció (Stratum 2)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TFTP – eszközkonfiguráció mentés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SSH – biztonságos távoli elérés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048747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Zabbix Szerver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048747" y="3138339"/>
            <a:ext cx="2599134" cy="173637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SNMP + Agent alapú monitorozás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E-mail riasztások kritikus eseményekre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+ SSH automatizáció (autosave.py)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Grafikus konfiguráló eszköz (qube_conf.py)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6119" y="5034186"/>
            <a:ext cx="8151763" cy="602382"/>
          </a:xfrm>
          <a:prstGeom prst="roundRect">
            <a:avLst>
              <a:gd name="adj" fmla="val 21181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5249242"/>
            <a:ext cx="177180" cy="14175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6816" y="5211366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Napi 03:00-kor automatikus konfigurációmentés TFTP-re és szervermentés – Disaster Recovery biztosítva.</a:t>
            </a:r>
            <a:endParaRPr lang="en-US" sz="1100" dirty="0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28D5BF15-A4C7-BFBE-0524-AE48186BA861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2" name="Ábra 21">
            <a:extLst>
              <a:ext uri="{FF2B5EF4-FFF2-40B4-BE49-F238E27FC236}">
                <a16:creationId xmlns:a16="http://schemas.microsoft.com/office/drawing/2014/main" id="{E55BB6F5-CF03-58E3-6CF3-E58E88B158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C029F7FD-3423-DF2A-DA2D-4A515B384A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763" t="17056" r="24367" b="18617"/>
          <a:stretch>
            <a:fillRect/>
          </a:stretch>
        </p:blipFill>
        <p:spPr>
          <a:xfrm>
            <a:off x="6710809" y="1866430"/>
            <a:ext cx="678944" cy="826058"/>
          </a:xfrm>
          <a:prstGeom prst="rect">
            <a:avLst/>
          </a:prstGeom>
        </p:spPr>
      </p:pic>
      <p:pic>
        <p:nvPicPr>
          <p:cNvPr id="29" name="Kép 28" descr="File:Openlogo-debianV2.svg - Wikimedia Commons">
            <a:extLst>
              <a:ext uri="{FF2B5EF4-FFF2-40B4-BE49-F238E27FC236}">
                <a16:creationId xmlns:a16="http://schemas.microsoft.com/office/drawing/2014/main" id="{4BB44BF9-BEE0-54FE-3B01-AFC8E21B8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7572" y="1859320"/>
            <a:ext cx="678944" cy="840278"/>
          </a:xfrm>
          <a:prstGeom prst="rect">
            <a:avLst/>
          </a:prstGeom>
        </p:spPr>
      </p:pic>
      <p:pic>
        <p:nvPicPr>
          <p:cNvPr id="30" name="Kép 29" descr="Fájl:Windows logo - 2012 (dark blue).svg – Wikipédia">
            <a:extLst>
              <a:ext uri="{FF2B5EF4-FFF2-40B4-BE49-F238E27FC236}">
                <a16:creationId xmlns:a16="http://schemas.microsoft.com/office/drawing/2014/main" id="{94052C70-3CE9-5D00-287A-9B835F86AE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473" y="1840388"/>
            <a:ext cx="852100" cy="852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7CB88-E1EF-33D1-D77F-ECF8A2647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1">
            <a:extLst>
              <a:ext uri="{FF2B5EF4-FFF2-40B4-BE49-F238E27FC236}">
                <a16:creationId xmlns:a16="http://schemas.microsoft.com/office/drawing/2014/main" id="{6CCEB14C-5D7E-4523-401C-FA7E42AE6F78}"/>
              </a:ext>
            </a:extLst>
          </p:cNvPr>
          <p:cNvSpPr/>
          <p:nvPr/>
        </p:nvSpPr>
        <p:spPr>
          <a:xfrm>
            <a:off x="479160" y="457200"/>
            <a:ext cx="818223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solidFill>
                  <a:schemeClr val="bg1"/>
                </a:solidFill>
                <a:latin typeface="Saira Medium" panose="020B0604020202020204" charset="-18"/>
                <a:ea typeface="+mj-ea"/>
                <a:cs typeface="+mj-cs"/>
              </a:rPr>
              <a:t>Windows</a:t>
            </a:r>
            <a:r>
              <a:rPr lang="en-US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Saira Medium" panose="020B0604020202020204" charset="-18"/>
                <a:ea typeface="+mj-ea"/>
                <a:cs typeface="+mj-cs"/>
              </a:rPr>
              <a:t>Szerver</a:t>
            </a:r>
            <a:endParaRPr lang="en-US" sz="4400" dirty="0">
              <a:solidFill>
                <a:schemeClr val="bg1"/>
              </a:solidFill>
              <a:latin typeface="Saira Medium" panose="020B0604020202020204" charset="-18"/>
              <a:ea typeface="+mj-ea"/>
              <a:cs typeface="+mj-cs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CB2B4F0A-DE6A-B426-8B7A-47A4008EFA08}"/>
              </a:ext>
            </a:extLst>
          </p:cNvPr>
          <p:cNvSpPr/>
          <p:nvPr/>
        </p:nvSpPr>
        <p:spPr>
          <a:xfrm>
            <a:off x="479160" y="1549484"/>
            <a:ext cx="8182233" cy="552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bg1"/>
                </a:solidFill>
                <a:latin typeface="Saira Medium" panose="020B0604020202020204" charset="-18"/>
              </a:rPr>
              <a:t>Active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Saira Medium" panose="020B0604020202020204" charset="-18"/>
              </a:rPr>
              <a:t>Directory</a:t>
            </a:r>
          </a:p>
        </p:txBody>
      </p:sp>
      <p:pic>
        <p:nvPicPr>
          <p:cNvPr id="35" name="Kép 34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C7FC2ED2-01AA-4C43-3983-5508D7625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9" y="2736811"/>
            <a:ext cx="5867135" cy="3034112"/>
          </a:xfrm>
          <a:prstGeom prst="rect">
            <a:avLst/>
          </a:prstGeom>
        </p:spPr>
      </p:pic>
      <p:sp>
        <p:nvSpPr>
          <p:cNvPr id="36" name="Téglalap 35">
            <a:extLst>
              <a:ext uri="{FF2B5EF4-FFF2-40B4-BE49-F238E27FC236}">
                <a16:creationId xmlns:a16="http://schemas.microsoft.com/office/drawing/2014/main" id="{0D9C984E-8349-50EA-F506-85278C7228F0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7" name="Ábra 36">
            <a:extLst>
              <a:ext uri="{FF2B5EF4-FFF2-40B4-BE49-F238E27FC236}">
                <a16:creationId xmlns:a16="http://schemas.microsoft.com/office/drawing/2014/main" id="{83B4BC6B-C61F-5462-BBD6-825528685B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  <p:sp>
        <p:nvSpPr>
          <p:cNvPr id="38" name="Téglalap 37">
            <a:extLst>
              <a:ext uri="{FF2B5EF4-FFF2-40B4-BE49-F238E27FC236}">
                <a16:creationId xmlns:a16="http://schemas.microsoft.com/office/drawing/2014/main" id="{E88C127F-7D37-05E6-BB61-BB72363031DC}"/>
              </a:ext>
            </a:extLst>
          </p:cNvPr>
          <p:cNvSpPr/>
          <p:nvPr/>
        </p:nvSpPr>
        <p:spPr>
          <a:xfrm>
            <a:off x="2156088" y="1466951"/>
            <a:ext cx="4828374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42110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45A8A-8D56-70D5-DFD2-A8FAAB5B8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1">
            <a:extLst>
              <a:ext uri="{FF2B5EF4-FFF2-40B4-BE49-F238E27FC236}">
                <a16:creationId xmlns:a16="http://schemas.microsoft.com/office/drawing/2014/main" id="{F81B4ABE-7B94-0330-0D06-9E30E3300207}"/>
              </a:ext>
            </a:extLst>
          </p:cNvPr>
          <p:cNvSpPr/>
          <p:nvPr/>
        </p:nvSpPr>
        <p:spPr>
          <a:xfrm>
            <a:off x="479160" y="457200"/>
            <a:ext cx="818223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solidFill>
                  <a:schemeClr val="bg1"/>
                </a:solidFill>
                <a:latin typeface="Saira Medium" panose="020B0604020202020204" charset="-18"/>
                <a:ea typeface="+mj-ea"/>
                <a:cs typeface="+mj-cs"/>
              </a:rPr>
              <a:t>Windows</a:t>
            </a:r>
            <a:r>
              <a:rPr lang="en-US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Saira Medium" panose="020B0604020202020204" charset="-18"/>
                <a:ea typeface="+mj-ea"/>
                <a:cs typeface="+mj-cs"/>
              </a:rPr>
              <a:t>Szerver</a:t>
            </a:r>
            <a:endParaRPr lang="en-US" sz="4400" dirty="0">
              <a:solidFill>
                <a:schemeClr val="bg1"/>
              </a:solidFill>
              <a:latin typeface="Saira Medium" panose="020B0604020202020204" charset="-18"/>
              <a:ea typeface="+mj-ea"/>
              <a:cs typeface="+mj-cs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44E40C95-C097-D51F-9A33-A28C48B0372C}"/>
              </a:ext>
            </a:extLst>
          </p:cNvPr>
          <p:cNvSpPr/>
          <p:nvPr/>
        </p:nvSpPr>
        <p:spPr>
          <a:xfrm>
            <a:off x="479160" y="1549484"/>
            <a:ext cx="8182233" cy="552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hu-HU" sz="2400" dirty="0">
                <a:solidFill>
                  <a:schemeClr val="bg1"/>
                </a:solidFill>
                <a:latin typeface="Saira Medium" panose="020B0604020202020204" charset="-18"/>
              </a:rPr>
              <a:t>Group policy</a:t>
            </a:r>
            <a:endParaRPr lang="en-US" sz="2400" dirty="0">
              <a:solidFill>
                <a:schemeClr val="bg1"/>
              </a:solidFill>
              <a:latin typeface="Saira Medium" panose="020B0604020202020204" charset="-18"/>
            </a:endParaRPr>
          </a:p>
        </p:txBody>
      </p:sp>
      <p:sp>
        <p:nvSpPr>
          <p:cNvPr id="36" name="Téglalap 35">
            <a:extLst>
              <a:ext uri="{FF2B5EF4-FFF2-40B4-BE49-F238E27FC236}">
                <a16:creationId xmlns:a16="http://schemas.microsoft.com/office/drawing/2014/main" id="{AFA51CEC-78D7-A4A3-4388-74787EB092F5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7" name="Ábra 36">
            <a:extLst>
              <a:ext uri="{FF2B5EF4-FFF2-40B4-BE49-F238E27FC236}">
                <a16:creationId xmlns:a16="http://schemas.microsoft.com/office/drawing/2014/main" id="{2A5341BB-853F-72C5-D465-615B5EBA4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  <p:sp>
        <p:nvSpPr>
          <p:cNvPr id="38" name="Téglalap 37">
            <a:extLst>
              <a:ext uri="{FF2B5EF4-FFF2-40B4-BE49-F238E27FC236}">
                <a16:creationId xmlns:a16="http://schemas.microsoft.com/office/drawing/2014/main" id="{BBDA6A1E-4D4D-983E-67C6-EAC420E89636}"/>
              </a:ext>
            </a:extLst>
          </p:cNvPr>
          <p:cNvSpPr/>
          <p:nvPr/>
        </p:nvSpPr>
        <p:spPr>
          <a:xfrm>
            <a:off x="2156088" y="1466951"/>
            <a:ext cx="4828374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" name="Kép 1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828C5FE0-EAC5-513E-CD0B-33DE6E886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351" y="2202762"/>
            <a:ext cx="5163848" cy="419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3341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9F632-FCA2-37CA-59CF-4BDDF3D2B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15C64D-9D54-FF55-680D-E9CCAAFC27EB}"/>
              </a:ext>
            </a:extLst>
          </p:cNvPr>
          <p:cNvSpPr/>
          <p:nvPr/>
        </p:nvSpPr>
        <p:spPr>
          <a:xfrm>
            <a:off x="496119" y="1102319"/>
            <a:ext cx="41000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Szerverszolgáltatások</a:t>
            </a:r>
            <a:endParaRPr lang="en-US" sz="2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90D58FB-3865-FBDC-D48F-8E4F08E98967}"/>
              </a:ext>
            </a:extLst>
          </p:cNvPr>
          <p:cNvSpPr/>
          <p:nvPr/>
        </p:nvSpPr>
        <p:spPr>
          <a:xfrm>
            <a:off x="496119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Windows Szerver</a:t>
            </a:r>
            <a:endParaRPr lang="en-US" sz="13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5DC2B67-2021-2B48-A16A-9EAC44C84DDD}"/>
              </a:ext>
            </a:extLst>
          </p:cNvPr>
          <p:cNvSpPr/>
          <p:nvPr/>
        </p:nvSpPr>
        <p:spPr>
          <a:xfrm>
            <a:off x="496119" y="3138339"/>
            <a:ext cx="2599134" cy="150956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Directory (SSO, OU struktúra)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GPO – jelszóházirend, szoftvertelepítés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DHCP, DNS, IIS webszerver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SMB fájlmegosztás (U: és S: meghajtók)</a:t>
            </a:r>
            <a:endParaRPr lang="en-US" sz="11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D5CAC47-D8B3-9AEC-13F7-092A8B308720}"/>
              </a:ext>
            </a:extLst>
          </p:cNvPr>
          <p:cNvSpPr/>
          <p:nvPr/>
        </p:nvSpPr>
        <p:spPr>
          <a:xfrm>
            <a:off x="3272433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Linux Szerver</a:t>
            </a:r>
            <a:endParaRPr lang="en-US" sz="13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C0B9477-F07A-01B4-A659-980468C5A2A4}"/>
              </a:ext>
            </a:extLst>
          </p:cNvPr>
          <p:cNvSpPr/>
          <p:nvPr/>
        </p:nvSpPr>
        <p:spPr>
          <a:xfrm>
            <a:off x="3272433" y="3138339"/>
            <a:ext cx="2599134" cy="128275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RADIUS (FreeRADIUS) – Wi-Fi hitelesítés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NTP időszinkronizáció (Stratum 2)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TFTP – eszközkonfiguráció mentés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SSH – biztonságos távoli elérés</a:t>
            </a:r>
            <a:endParaRPr lang="en-US" sz="11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24EAF5F-7319-38A0-F751-A88C370021C8}"/>
              </a:ext>
            </a:extLst>
          </p:cNvPr>
          <p:cNvSpPr/>
          <p:nvPr/>
        </p:nvSpPr>
        <p:spPr>
          <a:xfrm>
            <a:off x="6048747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Zabbix Szerver</a:t>
            </a:r>
            <a:endParaRPr lang="en-US" sz="13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4FB2E6E1-DA35-7C4E-092B-7243FE0DFE94}"/>
              </a:ext>
            </a:extLst>
          </p:cNvPr>
          <p:cNvSpPr/>
          <p:nvPr/>
        </p:nvSpPr>
        <p:spPr>
          <a:xfrm>
            <a:off x="6048747" y="3138339"/>
            <a:ext cx="2599134" cy="173637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SNMP + Agent alapú monitorozás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E-mail riasztások kritikus eseményekre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+ SSH automatizáció (autosave.py)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Grafikus konfiguráló eszköz (qube_conf.py)</a:t>
            </a:r>
            <a:endParaRPr lang="en-US" sz="11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26F94121-55B8-606F-D4F5-780178E85CCA}"/>
              </a:ext>
            </a:extLst>
          </p:cNvPr>
          <p:cNvSpPr/>
          <p:nvPr/>
        </p:nvSpPr>
        <p:spPr>
          <a:xfrm>
            <a:off x="496119" y="5034186"/>
            <a:ext cx="8151763" cy="602382"/>
          </a:xfrm>
          <a:prstGeom prst="roundRect">
            <a:avLst>
              <a:gd name="adj" fmla="val 21181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6DFBA172-193C-9E8C-1CF3-F99CC3FD4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5249242"/>
            <a:ext cx="177180" cy="141759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0925FE15-5EDC-C53A-280A-A1C2ADB050DD}"/>
              </a:ext>
            </a:extLst>
          </p:cNvPr>
          <p:cNvSpPr/>
          <p:nvPr/>
        </p:nvSpPr>
        <p:spPr>
          <a:xfrm>
            <a:off x="956816" y="5211366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Napi 03:00-kor automatikus konfigurációmentés TFTP-re és szervermentés – Disaster Recovery biztosítva.</a:t>
            </a:r>
            <a:endParaRPr lang="en-US" sz="1100" dirty="0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5ACBA64C-70C0-7475-BE80-2DD68256A7E4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2" name="Ábra 21">
            <a:extLst>
              <a:ext uri="{FF2B5EF4-FFF2-40B4-BE49-F238E27FC236}">
                <a16:creationId xmlns:a16="http://schemas.microsoft.com/office/drawing/2014/main" id="{F7825794-C74B-242E-EB28-408D3DA1D3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BE9188D7-C83D-CF2C-8038-52C1B6901B8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763" t="17056" r="24367" b="18617"/>
          <a:stretch>
            <a:fillRect/>
          </a:stretch>
        </p:blipFill>
        <p:spPr>
          <a:xfrm>
            <a:off x="6710809" y="1866430"/>
            <a:ext cx="678944" cy="826058"/>
          </a:xfrm>
          <a:prstGeom prst="rect">
            <a:avLst/>
          </a:prstGeom>
        </p:spPr>
      </p:pic>
      <p:pic>
        <p:nvPicPr>
          <p:cNvPr id="29" name="Kép 28" descr="File:Openlogo-debianV2.svg - Wikimedia Commons">
            <a:extLst>
              <a:ext uri="{FF2B5EF4-FFF2-40B4-BE49-F238E27FC236}">
                <a16:creationId xmlns:a16="http://schemas.microsoft.com/office/drawing/2014/main" id="{42ECF68D-7898-5DB6-7D95-46651EAB4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7572" y="1859320"/>
            <a:ext cx="678944" cy="840278"/>
          </a:xfrm>
          <a:prstGeom prst="rect">
            <a:avLst/>
          </a:prstGeom>
        </p:spPr>
      </p:pic>
      <p:pic>
        <p:nvPicPr>
          <p:cNvPr id="30" name="Kép 29" descr="Fájl:Windows logo - 2012 (dark blue).svg – Wikipédia">
            <a:extLst>
              <a:ext uri="{FF2B5EF4-FFF2-40B4-BE49-F238E27FC236}">
                <a16:creationId xmlns:a16="http://schemas.microsoft.com/office/drawing/2014/main" id="{D447D5E2-B48C-74AE-5DFB-C869316A7D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473" y="1840388"/>
            <a:ext cx="852100" cy="85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67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B4D4-E842-D39C-7F9D-C1805247A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E6799D8F-6EDD-F01D-B6B4-4A3437B7DD87}"/>
              </a:ext>
            </a:extLst>
          </p:cNvPr>
          <p:cNvSpPr/>
          <p:nvPr/>
        </p:nvSpPr>
        <p:spPr>
          <a:xfrm>
            <a:off x="4642842" y="2491532"/>
            <a:ext cx="4005039" cy="1674540"/>
          </a:xfrm>
          <a:prstGeom prst="roundRect">
            <a:avLst>
              <a:gd name="adj" fmla="val 761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A05D9C4-714D-67B1-758F-885F12E9E799}"/>
              </a:ext>
            </a:extLst>
          </p:cNvPr>
          <p:cNvSpPr/>
          <p:nvPr/>
        </p:nvSpPr>
        <p:spPr>
          <a:xfrm>
            <a:off x="479160" y="1922561"/>
            <a:ext cx="8182233" cy="552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ea typeface="Calibri"/>
                <a:cs typeface="Calibri"/>
              </a:rPr>
              <a:t>Debian 12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F0DE9DF-EC81-1C93-CE92-937560D9CFD2}"/>
              </a:ext>
            </a:extLst>
          </p:cNvPr>
          <p:cNvSpPr/>
          <p:nvPr/>
        </p:nvSpPr>
        <p:spPr>
          <a:xfrm>
            <a:off x="496119" y="2491532"/>
            <a:ext cx="4004965" cy="1674540"/>
          </a:xfrm>
          <a:prstGeom prst="roundRect">
            <a:avLst>
              <a:gd name="adj" fmla="val 761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5D5823FF-30E6-322E-C4EC-0AF5955ED79B}"/>
              </a:ext>
            </a:extLst>
          </p:cNvPr>
          <p:cNvSpPr/>
          <p:nvPr/>
        </p:nvSpPr>
        <p:spPr>
          <a:xfrm>
            <a:off x="652165" y="264757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/>
              </a:rPr>
              <a:t>Radius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5CEDC7E-2726-18DA-F7F3-EDDA3E0B6913}"/>
              </a:ext>
            </a:extLst>
          </p:cNvPr>
          <p:cNvSpPr/>
          <p:nvPr/>
        </p:nvSpPr>
        <p:spPr>
          <a:xfrm>
            <a:off x="652165" y="2954089"/>
            <a:ext cx="3692872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AAA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modellre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épülő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hitelesítési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rendszer</a:t>
            </a:r>
          </a:p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Központilag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hitelesítve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cstlakoznak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a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hálózathoz</a:t>
            </a:r>
          </a:p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WPA2-enterprise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módban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használtuk</a:t>
            </a:r>
          </a:p>
          <a:p>
            <a:pPr marL="342900" indent="-342900">
              <a:lnSpc>
                <a:spcPct val="133000"/>
              </a:lnSpc>
              <a:buSzPct val="100000"/>
              <a:buFontTx/>
              <a:buChar char="•"/>
            </a:pP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A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szerveren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freeradius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szolgáltatást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alkalmaztunk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BCD827B-FF87-1080-AF00-01F9E3D11709}"/>
              </a:ext>
            </a:extLst>
          </p:cNvPr>
          <p:cNvSpPr/>
          <p:nvPr/>
        </p:nvSpPr>
        <p:spPr>
          <a:xfrm>
            <a:off x="4798888" y="264757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 err="1">
                <a:solidFill>
                  <a:srgbClr val="E5E0DF"/>
                </a:solidFill>
                <a:latin typeface="Saira Medium"/>
              </a:rPr>
              <a:t>NTP</a:t>
            </a:r>
            <a:endParaRPr lang="en-US" sz="1350" dirty="0">
              <a:solidFill>
                <a:srgbClr val="E5E0DF"/>
              </a:solidFill>
              <a:latin typeface="Saira Medium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0EC1BD3-57C9-F84F-453B-74174ECA4725}"/>
              </a:ext>
            </a:extLst>
          </p:cNvPr>
          <p:cNvSpPr/>
          <p:nvPr/>
        </p:nvSpPr>
        <p:spPr>
          <a:xfrm>
            <a:off x="4798888" y="2954089"/>
            <a:ext cx="3692947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Pontos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időszinkronizáció</a:t>
            </a:r>
            <a:endParaRPr lang="en-US" sz="1100" dirty="0">
              <a:solidFill>
                <a:srgbClr val="E5E0DF"/>
              </a:solidFill>
              <a:latin typeface="Saira Medium" panose="020B0604020202020204" charset="-18"/>
              <a:ea typeface="Roboto"/>
              <a:cs typeface="Roboto"/>
            </a:endParaRP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Szerveren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ntpsec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szolgáltatás</a:t>
            </a:r>
            <a:endParaRPr lang="en-US" sz="1100" dirty="0">
              <a:solidFill>
                <a:srgbClr val="E5E0DF"/>
              </a:solidFill>
              <a:latin typeface="Saira Medium" panose="020B0604020202020204" charset="-18"/>
              <a:ea typeface="Roboto"/>
              <a:cs typeface="Roboto"/>
            </a:endParaRP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Az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eszközök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a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szervert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használják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időforrásként</a:t>
            </a:r>
            <a:endParaRPr lang="en-US" sz="1100" dirty="0">
              <a:solidFill>
                <a:srgbClr val="E5E0DF"/>
              </a:solidFill>
              <a:latin typeface="Saira Medium" panose="020B0604020202020204" charset="-18"/>
              <a:ea typeface="Roboto"/>
              <a:cs typeface="Roboto"/>
            </a:endParaRP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Az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ntp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 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működését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hitelesítéssel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egészítettük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ki</a:t>
            </a: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50B9762E-3FF3-A656-74E3-3D95176EC5A3}"/>
              </a:ext>
            </a:extLst>
          </p:cNvPr>
          <p:cNvSpPr/>
          <p:nvPr/>
        </p:nvSpPr>
        <p:spPr>
          <a:xfrm>
            <a:off x="496119" y="4307830"/>
            <a:ext cx="4004965" cy="1398166"/>
          </a:xfrm>
          <a:prstGeom prst="roundRect">
            <a:avLst>
              <a:gd name="adj" fmla="val 912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29CF33E4-DF9C-3515-4DDC-24D647AC2E24}"/>
              </a:ext>
            </a:extLst>
          </p:cNvPr>
          <p:cNvSpPr/>
          <p:nvPr/>
        </p:nvSpPr>
        <p:spPr>
          <a:xfrm>
            <a:off x="652165" y="446387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Saira Medium"/>
              </a:rPr>
              <a:t>SSH</a:t>
            </a:r>
            <a:endParaRPr lang="en-US" sz="1350" dirty="0">
              <a:solidFill>
                <a:srgbClr val="E5E0DF"/>
              </a:solidFill>
              <a:latin typeface="Saira Medium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969B00F5-6787-B8F8-F37F-A209057F5408}"/>
              </a:ext>
            </a:extLst>
          </p:cNvPr>
          <p:cNvSpPr/>
          <p:nvPr/>
        </p:nvSpPr>
        <p:spPr>
          <a:xfrm>
            <a:off x="652165" y="4770388"/>
            <a:ext cx="369287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Titkosított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kapcsolat</a:t>
            </a:r>
            <a:endParaRPr lang="en-US" sz="1100" dirty="0">
              <a:solidFill>
                <a:srgbClr val="E5E0DF"/>
              </a:solidFill>
              <a:latin typeface="Saira Medium" panose="020B0604020202020204" charset="-18"/>
              <a:ea typeface="Roboto"/>
              <a:cs typeface="Roboto"/>
            </a:endParaRP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Távoli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elérés</a:t>
            </a:r>
            <a:endParaRPr lang="en-US" sz="1100" dirty="0">
              <a:solidFill>
                <a:srgbClr val="E5E0DF"/>
              </a:solidFill>
              <a:latin typeface="Saira Medium" panose="020B0604020202020204" charset="-18"/>
              <a:ea typeface="Roboto"/>
              <a:cs typeface="Roboto"/>
            </a:endParaRP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Szkript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alapú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konfiguráció</a:t>
            </a:r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08F792E5-EB1D-4735-2C96-4D3776B9A67E}"/>
              </a:ext>
            </a:extLst>
          </p:cNvPr>
          <p:cNvSpPr/>
          <p:nvPr/>
        </p:nvSpPr>
        <p:spPr>
          <a:xfrm>
            <a:off x="4642842" y="4307830"/>
            <a:ext cx="4005039" cy="1398166"/>
          </a:xfrm>
          <a:prstGeom prst="roundRect">
            <a:avLst>
              <a:gd name="adj" fmla="val 912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3B2FCC66-76A0-B4A6-EFAD-DDA70A12AC46}"/>
              </a:ext>
            </a:extLst>
          </p:cNvPr>
          <p:cNvSpPr/>
          <p:nvPr/>
        </p:nvSpPr>
        <p:spPr>
          <a:xfrm>
            <a:off x="4798888" y="446387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5E0DF"/>
                </a:solidFill>
                <a:latin typeface="Saira Medium"/>
              </a:rPr>
              <a:t>TFTP</a:t>
            </a:r>
            <a:endParaRPr lang="en-US" sz="1350" dirty="0">
              <a:solidFill>
                <a:srgbClr val="E5E0DF"/>
              </a:solidFill>
              <a:latin typeface="Saira Medium"/>
            </a:endParaRPr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4DE22EAC-AE34-79F2-78F7-DC6D5368805B}"/>
              </a:ext>
            </a:extLst>
          </p:cNvPr>
          <p:cNvSpPr/>
          <p:nvPr/>
        </p:nvSpPr>
        <p:spPr>
          <a:xfrm>
            <a:off x="4798888" y="4770388"/>
            <a:ext cx="369294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endParaRPr lang="en-US" sz="1100" dirty="0">
              <a:solidFill>
                <a:srgbClr val="E5E0DF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BDB3669E-DF6C-93D4-A9A1-84DD7CBCA19D}"/>
              </a:ext>
            </a:extLst>
          </p:cNvPr>
          <p:cNvSpPr/>
          <p:nvPr/>
        </p:nvSpPr>
        <p:spPr>
          <a:xfrm>
            <a:off x="4798888" y="4774675"/>
            <a:ext cx="3692947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Eszközök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biztonsági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mentése</a:t>
            </a: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Egy python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kód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végzi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minden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nap 03:00-kor</a:t>
            </a: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Teljes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jogosultságot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adtunk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az</a:t>
            </a:r>
            <a:r>
              <a:rPr lang="en-US" sz="1100" dirty="0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Saira Medium" panose="020B0604020202020204" charset="-18"/>
                <a:ea typeface="Roboto"/>
                <a:cs typeface="Roboto"/>
              </a:rPr>
              <a:t>eszközöknek</a:t>
            </a:r>
          </a:p>
        </p:txBody>
      </p:sp>
      <p:sp>
        <p:nvSpPr>
          <p:cNvPr id="31" name="Téglalap 30">
            <a:extLst>
              <a:ext uri="{FF2B5EF4-FFF2-40B4-BE49-F238E27FC236}">
                <a16:creationId xmlns:a16="http://schemas.microsoft.com/office/drawing/2014/main" id="{52A21D29-7473-4050-A67A-F97BE8C67848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2" name="Ábra 31">
            <a:extLst>
              <a:ext uri="{FF2B5EF4-FFF2-40B4-BE49-F238E27FC236}">
                <a16:creationId xmlns:a16="http://schemas.microsoft.com/office/drawing/2014/main" id="{1B20618D-BCA8-A7EB-D9A7-2AE1D6594C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  <p:sp>
        <p:nvSpPr>
          <p:cNvPr id="33" name="Text 1">
            <a:extLst>
              <a:ext uri="{FF2B5EF4-FFF2-40B4-BE49-F238E27FC236}">
                <a16:creationId xmlns:a16="http://schemas.microsoft.com/office/drawing/2014/main" id="{42F39C71-EF40-D964-C2F7-39F1DEC3F6E5}"/>
              </a:ext>
            </a:extLst>
          </p:cNvPr>
          <p:cNvSpPr/>
          <p:nvPr/>
        </p:nvSpPr>
        <p:spPr>
          <a:xfrm>
            <a:off x="409969" y="199075"/>
            <a:ext cx="818223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solidFill>
                  <a:schemeClr val="bg1"/>
                </a:solidFill>
                <a:latin typeface="Saira Medium" panose="020B0604020202020204" charset="-18"/>
                <a:ea typeface="+mj-ea"/>
                <a:cs typeface="+mj-cs"/>
              </a:rPr>
              <a:t>Linux </a:t>
            </a:r>
            <a:r>
              <a:rPr lang="en-US" sz="4400" dirty="0" err="1">
                <a:solidFill>
                  <a:schemeClr val="bg1"/>
                </a:solidFill>
                <a:latin typeface="Saira Medium" panose="020B0604020202020204" charset="-18"/>
                <a:ea typeface="+mj-ea"/>
                <a:cs typeface="+mj-cs"/>
              </a:rPr>
              <a:t>Szerver</a:t>
            </a:r>
            <a:endParaRPr lang="en-US" sz="4400" dirty="0" err="1">
              <a:solidFill>
                <a:schemeClr val="bg1"/>
              </a:solidFill>
              <a:latin typeface="Saira Medium" panose="020B0604020202020204" charset="-18"/>
              <a:ea typeface="Calibri Light"/>
              <a:cs typeface="Calibri Light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5C6D9116-3E0F-FF22-FF35-52E51A95F6FC}"/>
              </a:ext>
            </a:extLst>
          </p:cNvPr>
          <p:cNvSpPr/>
          <p:nvPr/>
        </p:nvSpPr>
        <p:spPr>
          <a:xfrm>
            <a:off x="409969" y="1390728"/>
            <a:ext cx="8182233" cy="552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solidFill>
                  <a:schemeClr val="bg1"/>
                </a:solidFill>
                <a:latin typeface="Saira Medium" panose="020B0604020202020204" charset="-18"/>
                <a:ea typeface="Calibri"/>
                <a:cs typeface="Calibri"/>
              </a:rPr>
              <a:t>Debian 12</a:t>
            </a:r>
          </a:p>
        </p:txBody>
      </p:sp>
      <p:sp>
        <p:nvSpPr>
          <p:cNvPr id="35" name="Téglalap 34">
            <a:extLst>
              <a:ext uri="{FF2B5EF4-FFF2-40B4-BE49-F238E27FC236}">
                <a16:creationId xmlns:a16="http://schemas.microsoft.com/office/drawing/2014/main" id="{22E9F531-D943-399B-EC0E-6439FF99BE28}"/>
              </a:ext>
            </a:extLst>
          </p:cNvPr>
          <p:cNvSpPr/>
          <p:nvPr/>
        </p:nvSpPr>
        <p:spPr>
          <a:xfrm>
            <a:off x="2086897" y="1259953"/>
            <a:ext cx="4828374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95671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08528-4DB1-5DFE-CC85-7E9539C0F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E4479A-6385-F741-9E18-EC93A8803420}"/>
              </a:ext>
            </a:extLst>
          </p:cNvPr>
          <p:cNvSpPr/>
          <p:nvPr/>
        </p:nvSpPr>
        <p:spPr>
          <a:xfrm>
            <a:off x="496119" y="1102319"/>
            <a:ext cx="41000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Szerverszolgáltatások</a:t>
            </a:r>
            <a:endParaRPr lang="en-US" sz="2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E801503-D73B-F177-ECD4-F39639AA23AA}"/>
              </a:ext>
            </a:extLst>
          </p:cNvPr>
          <p:cNvSpPr/>
          <p:nvPr/>
        </p:nvSpPr>
        <p:spPr>
          <a:xfrm>
            <a:off x="496119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Windows Szerver</a:t>
            </a:r>
            <a:endParaRPr lang="en-US" sz="13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772B856-337E-F2A9-F18F-AAC5FDB30F11}"/>
              </a:ext>
            </a:extLst>
          </p:cNvPr>
          <p:cNvSpPr/>
          <p:nvPr/>
        </p:nvSpPr>
        <p:spPr>
          <a:xfrm>
            <a:off x="496119" y="3138339"/>
            <a:ext cx="2599134" cy="150956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Directory (SSO, OU struktúra)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GPO – jelszóházirend, szoftvertelepítés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DHCP, DNS, IIS webszerver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SMB fájlmegosztás (U: és S: meghajtók)</a:t>
            </a:r>
            <a:endParaRPr lang="en-US" sz="11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B5EEB72-072D-E11E-AD4C-67FC290208F3}"/>
              </a:ext>
            </a:extLst>
          </p:cNvPr>
          <p:cNvSpPr/>
          <p:nvPr/>
        </p:nvSpPr>
        <p:spPr>
          <a:xfrm>
            <a:off x="3272433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Linux Szerver</a:t>
            </a:r>
            <a:endParaRPr lang="en-US" sz="13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27DD6ED-3DCE-91CE-475C-8A07D4F88362}"/>
              </a:ext>
            </a:extLst>
          </p:cNvPr>
          <p:cNvSpPr/>
          <p:nvPr/>
        </p:nvSpPr>
        <p:spPr>
          <a:xfrm>
            <a:off x="3272433" y="3138339"/>
            <a:ext cx="2599134" cy="128275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RADIUS (FreeRADIUS) – Wi-Fi hitelesítés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NTP időszinkronizáció (Stratum 2)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TFTP – eszközkonfiguráció mentés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SSH – biztonságos távoli elérés</a:t>
            </a:r>
            <a:endParaRPr lang="en-US" sz="11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0EF7EDD-5C40-B8F4-CA9D-8D815798A846}"/>
              </a:ext>
            </a:extLst>
          </p:cNvPr>
          <p:cNvSpPr/>
          <p:nvPr/>
        </p:nvSpPr>
        <p:spPr>
          <a:xfrm>
            <a:off x="6048747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Zabbix Szerver</a:t>
            </a:r>
            <a:endParaRPr lang="en-US" sz="13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A1EAB7E8-DFEF-E9B0-C787-86A585A8A57C}"/>
              </a:ext>
            </a:extLst>
          </p:cNvPr>
          <p:cNvSpPr/>
          <p:nvPr/>
        </p:nvSpPr>
        <p:spPr>
          <a:xfrm>
            <a:off x="6048747" y="3138339"/>
            <a:ext cx="2599134" cy="173637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SNMP + Agent alapú monitorozás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E-mail riasztások kritikus eseményekre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+ SSH automatizáció (autosave.py)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Grafikus konfiguráló eszköz (qube_conf.py)</a:t>
            </a:r>
            <a:endParaRPr lang="en-US" sz="11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376FACD4-CFBC-1B7E-C1DB-FA5410D8D0EB}"/>
              </a:ext>
            </a:extLst>
          </p:cNvPr>
          <p:cNvSpPr/>
          <p:nvPr/>
        </p:nvSpPr>
        <p:spPr>
          <a:xfrm>
            <a:off x="496119" y="5034186"/>
            <a:ext cx="8151763" cy="602382"/>
          </a:xfrm>
          <a:prstGeom prst="roundRect">
            <a:avLst>
              <a:gd name="adj" fmla="val 21181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55C64FEC-9870-EDA0-2BDD-D2A6305AD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5249242"/>
            <a:ext cx="177180" cy="141759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D5FF74E2-8E42-EBA9-AB68-9AC59D388507}"/>
              </a:ext>
            </a:extLst>
          </p:cNvPr>
          <p:cNvSpPr/>
          <p:nvPr/>
        </p:nvSpPr>
        <p:spPr>
          <a:xfrm>
            <a:off x="956816" y="5211366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Napi 03:00-kor automatikus konfigurációmentés TFTP-re és szervermentés – Disaster Recovery biztosítva.</a:t>
            </a:r>
            <a:endParaRPr lang="en-US" sz="1100" dirty="0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7504ACE5-98D4-FF6A-FBC1-0E70AFBAD9C5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2" name="Ábra 21">
            <a:extLst>
              <a:ext uri="{FF2B5EF4-FFF2-40B4-BE49-F238E27FC236}">
                <a16:creationId xmlns:a16="http://schemas.microsoft.com/office/drawing/2014/main" id="{E7E41B67-F47F-52DB-735E-C646E7FF5C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C825E602-5B18-2660-BE7C-294CA97BEE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763" t="17056" r="24367" b="18617"/>
          <a:stretch>
            <a:fillRect/>
          </a:stretch>
        </p:blipFill>
        <p:spPr>
          <a:xfrm>
            <a:off x="6710809" y="1866430"/>
            <a:ext cx="678944" cy="826058"/>
          </a:xfrm>
          <a:prstGeom prst="rect">
            <a:avLst/>
          </a:prstGeom>
        </p:spPr>
      </p:pic>
      <p:pic>
        <p:nvPicPr>
          <p:cNvPr id="29" name="Kép 28" descr="File:Openlogo-debianV2.svg - Wikimedia Commons">
            <a:extLst>
              <a:ext uri="{FF2B5EF4-FFF2-40B4-BE49-F238E27FC236}">
                <a16:creationId xmlns:a16="http://schemas.microsoft.com/office/drawing/2014/main" id="{89847D5E-40A2-86B6-20DB-70B522700E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7572" y="1859320"/>
            <a:ext cx="678944" cy="840278"/>
          </a:xfrm>
          <a:prstGeom prst="rect">
            <a:avLst/>
          </a:prstGeom>
        </p:spPr>
      </p:pic>
      <p:pic>
        <p:nvPicPr>
          <p:cNvPr id="30" name="Kép 29" descr="Fájl:Windows logo - 2012 (dark blue).svg – Wikipédia">
            <a:extLst>
              <a:ext uri="{FF2B5EF4-FFF2-40B4-BE49-F238E27FC236}">
                <a16:creationId xmlns:a16="http://schemas.microsoft.com/office/drawing/2014/main" id="{8C5146BC-4AD8-01B6-A8AE-F473BDB388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473" y="1840388"/>
            <a:ext cx="852100" cy="85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91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5A70F-C1CC-A6A6-BDAC-F51CE5F7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F218B4-255A-EBA5-3DA3-B946B04046B1}"/>
              </a:ext>
            </a:extLst>
          </p:cNvPr>
          <p:cNvSpPr/>
          <p:nvPr/>
        </p:nvSpPr>
        <p:spPr>
          <a:xfrm>
            <a:off x="338398" y="1212614"/>
            <a:ext cx="544941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Zabbix Monitorozási Rendszer</a:t>
            </a:r>
            <a:endParaRPr lang="en-US" sz="2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4ACD90-B206-DBF7-35C0-6A018DDF7094}"/>
              </a:ext>
            </a:extLst>
          </p:cNvPr>
          <p:cNvSpPr/>
          <p:nvPr/>
        </p:nvSpPr>
        <p:spPr>
          <a:xfrm>
            <a:off x="338398" y="1939119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Zabbix egy központi monitorozási platform, amely SNMP és agent alapú adatgyűjtéssel felügyeli a hálózati eszközöket, szervereket és alkalmazásokat. A rendszer valós időben gyűjti és tárolja az adatokat, grafikus dashboardokon jeleníti meg a működési állapotot, és automatikus riasztásokkal támogatja az üzemeltetést.</a:t>
            </a:r>
            <a:endParaRPr lang="en-US" sz="11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5EDC27F-E39D-DE33-B333-14957D93A602}"/>
              </a:ext>
            </a:extLst>
          </p:cNvPr>
          <p:cNvSpPr/>
          <p:nvPr/>
        </p:nvSpPr>
        <p:spPr>
          <a:xfrm>
            <a:off x="338398" y="3000933"/>
            <a:ext cx="1931566" cy="19050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BCCD34F-4730-CF8C-C3C6-2359E1ABA288}"/>
              </a:ext>
            </a:extLst>
          </p:cNvPr>
          <p:cNvSpPr/>
          <p:nvPr/>
        </p:nvSpPr>
        <p:spPr>
          <a:xfrm>
            <a:off x="338398" y="310987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1. Adatgyűjtés</a:t>
            </a:r>
            <a:endParaRPr lang="en-US" sz="13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42D88EE-D523-D6A1-85C9-FDF46BFCA304}"/>
              </a:ext>
            </a:extLst>
          </p:cNvPr>
          <p:cNvSpPr/>
          <p:nvPr/>
        </p:nvSpPr>
        <p:spPr>
          <a:xfrm>
            <a:off x="338398" y="3416387"/>
            <a:ext cx="19315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SNMP és Agent alapú monitorozás hálózati eszközökön, szervereken és alkalmazásokon.</a:t>
            </a:r>
            <a:endParaRPr lang="en-US" sz="11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56067B8-0C8E-2BE8-5F98-68BC3E427167}"/>
              </a:ext>
            </a:extLst>
          </p:cNvPr>
          <p:cNvSpPr/>
          <p:nvPr/>
        </p:nvSpPr>
        <p:spPr>
          <a:xfrm>
            <a:off x="2411722" y="3000933"/>
            <a:ext cx="1931640" cy="19050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AED3DD-B353-0D9D-D3BF-B167C2717C9B}"/>
              </a:ext>
            </a:extLst>
          </p:cNvPr>
          <p:cNvSpPr/>
          <p:nvPr/>
        </p:nvSpPr>
        <p:spPr>
          <a:xfrm>
            <a:off x="2411722" y="310987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2. Elemzés</a:t>
            </a:r>
            <a:endParaRPr lang="en-US" sz="13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6644393-AF12-96D6-7BBC-7DEDDC7EA6A7}"/>
              </a:ext>
            </a:extLst>
          </p:cNvPr>
          <p:cNvSpPr/>
          <p:nvPr/>
        </p:nvSpPr>
        <p:spPr>
          <a:xfrm>
            <a:off x="2411722" y="3416387"/>
            <a:ext cx="193164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Valós idejű adatfeldolgozás, előzmények és trendanalízis az üzemállapot követésére.</a:t>
            </a:r>
            <a:endParaRPr lang="en-US" sz="11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EBF5ED4-4CF6-8EED-1318-39799FCA3869}"/>
              </a:ext>
            </a:extLst>
          </p:cNvPr>
          <p:cNvSpPr/>
          <p:nvPr/>
        </p:nvSpPr>
        <p:spPr>
          <a:xfrm>
            <a:off x="4485121" y="3000933"/>
            <a:ext cx="1931640" cy="19050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C184B83-4636-8CAC-661C-496B0325F549}"/>
              </a:ext>
            </a:extLst>
          </p:cNvPr>
          <p:cNvSpPr/>
          <p:nvPr/>
        </p:nvSpPr>
        <p:spPr>
          <a:xfrm>
            <a:off x="4485121" y="310987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3. Értesítés</a:t>
            </a:r>
            <a:endParaRPr lang="en-US" sz="135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5A1355A9-3803-B6B1-7D92-316A91A58508}"/>
              </a:ext>
            </a:extLst>
          </p:cNvPr>
          <p:cNvSpPr/>
          <p:nvPr/>
        </p:nvSpPr>
        <p:spPr>
          <a:xfrm>
            <a:off x="4485121" y="3416387"/>
            <a:ext cx="193164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Grafikus dashboardok, egyéni triggerek, küszöbértékek és e-mail értesítések kritikus eseményekre.</a:t>
            </a:r>
            <a:endParaRPr lang="en-US" sz="11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CADCF7C8-74F0-7300-CA62-843CD4BFC0EE}"/>
              </a:ext>
            </a:extLst>
          </p:cNvPr>
          <p:cNvSpPr/>
          <p:nvPr/>
        </p:nvSpPr>
        <p:spPr>
          <a:xfrm>
            <a:off x="6558520" y="3000933"/>
            <a:ext cx="1931640" cy="19050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50932302-C545-2C4C-13DF-48FBE5AE9B93}"/>
              </a:ext>
            </a:extLst>
          </p:cNvPr>
          <p:cNvSpPr/>
          <p:nvPr/>
        </p:nvSpPr>
        <p:spPr>
          <a:xfrm>
            <a:off x="6558520" y="310987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4. Automatizálás</a:t>
            </a:r>
            <a:endParaRPr lang="en-US" sz="13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62C29FEF-DB41-5B46-E445-BD61D6413299}"/>
              </a:ext>
            </a:extLst>
          </p:cNvPr>
          <p:cNvSpPr/>
          <p:nvPr/>
        </p:nvSpPr>
        <p:spPr>
          <a:xfrm>
            <a:off x="6558520" y="3416387"/>
            <a:ext cx="193164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+ SSH automatizáció (autosave.py) napi 03:00-kor konfigurációmentést készít, a qube_conf.py pedig felhasználóbarát konfiguráló felületet biztosít.</a:t>
            </a:r>
            <a:endParaRPr lang="en-US" sz="11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29FC5304-FC1A-A674-4059-596D93932B34}"/>
              </a:ext>
            </a:extLst>
          </p:cNvPr>
          <p:cNvSpPr/>
          <p:nvPr/>
        </p:nvSpPr>
        <p:spPr>
          <a:xfrm>
            <a:off x="338398" y="5043004"/>
            <a:ext cx="8151763" cy="602382"/>
          </a:xfrm>
          <a:prstGeom prst="roundRect">
            <a:avLst>
              <a:gd name="adj" fmla="val 21181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22" name="Image 0">
            <a:extLst>
              <a:ext uri="{FF2B5EF4-FFF2-40B4-BE49-F238E27FC236}">
                <a16:creationId xmlns:a16="http://schemas.microsoft.com/office/drawing/2014/main" id="{D31A7CC0-99D3-D414-D6A0-750ED84CE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56" y="5258060"/>
            <a:ext cx="177180" cy="141759"/>
          </a:xfrm>
          <a:prstGeom prst="rect">
            <a:avLst/>
          </a:prstGeom>
        </p:spPr>
      </p:pic>
      <p:sp>
        <p:nvSpPr>
          <p:cNvPr id="24" name="Text 15">
            <a:extLst>
              <a:ext uri="{FF2B5EF4-FFF2-40B4-BE49-F238E27FC236}">
                <a16:creationId xmlns:a16="http://schemas.microsoft.com/office/drawing/2014/main" id="{8F807066-C972-2460-5B77-B7E88B809B8E}"/>
              </a:ext>
            </a:extLst>
          </p:cNvPr>
          <p:cNvSpPr/>
          <p:nvPr/>
        </p:nvSpPr>
        <p:spPr>
          <a:xfrm>
            <a:off x="799095" y="5220183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Disaster Recovery biztosított a rendszeres, automatikus mentéseknek köszönhetően.</a:t>
            </a:r>
            <a:endParaRPr lang="en-US" sz="1100" dirty="0"/>
          </a:p>
        </p:txBody>
      </p:sp>
      <p:sp>
        <p:nvSpPr>
          <p:cNvPr id="25" name="Téglalap 24">
            <a:extLst>
              <a:ext uri="{FF2B5EF4-FFF2-40B4-BE49-F238E27FC236}">
                <a16:creationId xmlns:a16="http://schemas.microsoft.com/office/drawing/2014/main" id="{99BED342-3818-4599-8230-46AE0846FF21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6" name="Ábra 25">
            <a:extLst>
              <a:ext uri="{FF2B5EF4-FFF2-40B4-BE49-F238E27FC236}">
                <a16:creationId xmlns:a16="http://schemas.microsoft.com/office/drawing/2014/main" id="{5C292A02-FB1E-5FAB-7E55-12EDF4B1FB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40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4" name="Image 1"/>
          <p:cNvPicPr>
            <a:picLocks noChangeAspect="1"/>
          </p:cNvPicPr>
          <p:nvPr/>
        </p:nvPicPr>
        <p:blipFill>
          <a:blip r:embed="rId4"/>
          <a:srcRect t="17070" b="17070"/>
          <a:stretch>
            <a:fillRect/>
          </a:stretch>
        </p:blipFill>
        <p:spPr>
          <a:xfrm rot="5400000">
            <a:off x="3958483" y="1714500"/>
            <a:ext cx="6942034" cy="3429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788715"/>
            <a:ext cx="42517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Prototípus és Tesztelés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496119" y="144430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prototípus a Győri Jedlik Ányos Technikumban valósult meg, 5 napon át. Valós Cisco eszközök + VirtualBox virtualizált szerverek, szimulált ISP routerrel összekötve.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496119" y="2284214"/>
            <a:ext cx="4722763" cy="2569518"/>
          </a:xfrm>
          <a:prstGeom prst="roundRect">
            <a:avLst>
              <a:gd name="adj" fmla="val 496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4"/>
          <p:cNvSpPr/>
          <p:nvPr/>
        </p:nvSpPr>
        <p:spPr>
          <a:xfrm>
            <a:off x="510406" y="2298502"/>
            <a:ext cx="4694188" cy="1270471"/>
          </a:xfrm>
          <a:prstGeom prst="roundRect">
            <a:avLst>
              <a:gd name="adj" fmla="val 10043"/>
            </a:avLst>
          </a:prstGeom>
          <a:solidFill>
            <a:srgbClr val="03030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9" name="Text 5"/>
          <p:cNvSpPr/>
          <p:nvPr/>
        </p:nvSpPr>
        <p:spPr>
          <a:xfrm>
            <a:off x="652165" y="244026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✅</a:t>
            </a: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Beépítve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2165" y="2746772"/>
            <a:ext cx="441067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STP, EtherChannel, HSRP, DAI, DHCP Snooping, ACL, NAT, GRE, statikus routing, AD, DHCP, DNS, IIS, fájlmegosztás, NTP, Zabbix, automatizáció, dual-stack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10406" y="3568973"/>
            <a:ext cx="4668813" cy="1212577"/>
          </a:xfrm>
          <a:prstGeom prst="rect">
            <a:avLst/>
          </a:prstGeom>
          <a:solidFill>
            <a:srgbClr val="03030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Shape 8"/>
          <p:cNvSpPr/>
          <p:nvPr/>
        </p:nvSpPr>
        <p:spPr>
          <a:xfrm>
            <a:off x="510406" y="3568973"/>
            <a:ext cx="4694188" cy="19050"/>
          </a:xfrm>
          <a:prstGeom prst="roundRect">
            <a:avLst>
              <a:gd name="adj" fmla="val 669768"/>
            </a:avLst>
          </a:prstGeom>
          <a:solidFill>
            <a:srgbClr val="E2691D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3" name="Text 9"/>
          <p:cNvSpPr/>
          <p:nvPr/>
        </p:nvSpPr>
        <p:spPr>
          <a:xfrm>
            <a:off x="652165" y="371073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⚠️</a:t>
            </a: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Részben / Nem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52165" y="4017243"/>
            <a:ext cx="441067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Dinamikus OSPF routing – nem beépítve. Wi-Fi VLAN szegmentálás – részben. IPsec, CHAP, SSH router menedzsment – eszközkorlátok miatt kihagyva.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96119" y="5013201"/>
            <a:ext cx="4722763" cy="1056010"/>
          </a:xfrm>
          <a:prstGeom prst="roundRect">
            <a:avLst>
              <a:gd name="adj" fmla="val 12082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77" y="5228258"/>
            <a:ext cx="177180" cy="1417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6816" y="5190381"/>
            <a:ext cx="41203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Részletes tesztelési dokumentáció: QUBE_tesztelesi_dokumentacio.pdf · Bemutató videó: QUBE_prototipus.mp4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FF30B-ADDE-9967-BD6C-38DCB60FB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6676178-8C87-D707-F604-21C099C39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685800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E17C53D1-E429-A433-9083-C2BBE6DE1392}"/>
              </a:ext>
            </a:extLst>
          </p:cNvPr>
          <p:cNvSpPr/>
          <p:nvPr/>
        </p:nvSpPr>
        <p:spPr>
          <a:xfrm>
            <a:off x="496119" y="254384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hu-HU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KÖSZÖNJÜK A FIGYELMET!</a:t>
            </a:r>
            <a:endParaRPr lang="en-US" sz="27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5851407-99E4-D128-B58D-D174A6067260}"/>
              </a:ext>
            </a:extLst>
          </p:cNvPr>
          <p:cNvSpPr/>
          <p:nvPr/>
        </p:nvSpPr>
        <p:spPr>
          <a:xfrm>
            <a:off x="496119" y="364242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Gábriel Milán · Nyári Patrik</a:t>
            </a:r>
            <a:endParaRPr lang="en-US" sz="11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B2442427-2368-4233-85A9-90468E386181}"/>
              </a:ext>
            </a:extLst>
          </p:cNvPr>
          <p:cNvSpPr/>
          <p:nvPr/>
        </p:nvSpPr>
        <p:spPr>
          <a:xfrm>
            <a:off x="496119" y="4038228"/>
            <a:ext cx="1685330" cy="266402"/>
          </a:xfrm>
          <a:prstGeom prst="roundRect">
            <a:avLst>
              <a:gd name="adj" fmla="val 38315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hu-HU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48A002B-A499-4515-1126-EAC3B2DD267A}"/>
              </a:ext>
            </a:extLst>
          </p:cNvPr>
          <p:cNvSpPr/>
          <p:nvPr/>
        </p:nvSpPr>
        <p:spPr>
          <a:xfrm>
            <a:off x="581174" y="4080718"/>
            <a:ext cx="197241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hu-HU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HÁLÓZAT ÉS SZOLGÁLTATÁS</a:t>
            </a:r>
            <a:endParaRPr lang="en-US" sz="85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D7DC5FF-0D25-D2C5-0662-7F2176AB3CDC}"/>
              </a:ext>
            </a:extLst>
          </p:cNvPr>
          <p:cNvSpPr/>
          <p:nvPr/>
        </p:nvSpPr>
        <p:spPr>
          <a:xfrm>
            <a:off x="2252290" y="4028703"/>
            <a:ext cx="443954" cy="285452"/>
          </a:xfrm>
          <a:prstGeom prst="roundRect">
            <a:avLst>
              <a:gd name="adj" fmla="val 35758"/>
            </a:avLst>
          </a:prstGeom>
          <a:noFill/>
          <a:ln w="9525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083E010-B3B0-68BB-FFFA-DFFF2D2761EC}"/>
              </a:ext>
            </a:extLst>
          </p:cNvPr>
          <p:cNvSpPr/>
          <p:nvPr/>
        </p:nvSpPr>
        <p:spPr>
          <a:xfrm>
            <a:off x="2346871" y="4080718"/>
            <a:ext cx="71199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850" dirty="0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DEF792B4-EECB-9F09-8773-8CF0AAE46D17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4" name="Ábra 3">
            <a:extLst>
              <a:ext uri="{FF2B5EF4-FFF2-40B4-BE49-F238E27FC236}">
                <a16:creationId xmlns:a16="http://schemas.microsoft.com/office/drawing/2014/main" id="{6A0B091A-8D3E-39E0-3206-DAA7B5574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847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1190</Words>
  <Application>Microsoft Office PowerPoint</Application>
  <PresentationFormat>Diavetítés a képernyőre (4:3 oldalarány)</PresentationFormat>
  <Paragraphs>195</Paragraphs>
  <Slides>16</Slides>
  <Notes>16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1" baseType="lpstr">
      <vt:lpstr>Arial</vt:lpstr>
      <vt:lpstr>Roboto</vt:lpstr>
      <vt:lpstr>Saira Medium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pat</dc:creator>
  <cp:lastModifiedBy>O365 felhasználó</cp:lastModifiedBy>
  <cp:revision>214</cp:revision>
  <dcterms:created xsi:type="dcterms:W3CDTF">2026-05-18T13:36:23Z</dcterms:created>
  <dcterms:modified xsi:type="dcterms:W3CDTF">2026-05-27T20:41:03Z</dcterms:modified>
</cp:coreProperties>
</file>