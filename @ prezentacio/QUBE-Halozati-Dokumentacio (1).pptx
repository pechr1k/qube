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9" r:id="rId12"/>
    <p:sldId id="270" r:id="rId13"/>
    <p:sldId id="271" r:id="rId14"/>
    <p:sldId id="272" r:id="rId15"/>
    <p:sldId id="265" r:id="rId16"/>
    <p:sldId id="267" r:id="rId17"/>
  </p:sldIdLst>
  <p:sldSz cx="9144000" cy="6858000" type="screen4x3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Saira Medium" panose="020B0604020202020204" charset="0"/>
      <p:regular r:id="rId23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F2B46-0A22-4865-B737-D1C3354883B9}" v="1145" dt="2026-05-27T16:11:37.574"/>
    <p1510:client id="{CC34C918-BB2A-4EF6-A5E8-31E75F19E888}" v="7" dt="2026-05-27T16:12:21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14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E5EC-CF9B-E0CF-BA6C-E436493B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AEA30-A009-5B89-378E-D17EFC95A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C42FA-995B-ACB0-4603-5D9429DC0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ADE63-9676-A958-2F9F-C0CEBAA87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29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0E87-A7B5-1197-404B-190494AB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CE4D1-2DE1-5DAD-DCF9-209C886F9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C9F1A-635D-164A-2B00-1D0607361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0C85E-B3A0-BEB6-D3EB-D3E4AE7E7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75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39C0-FC87-D9FA-98D7-7236BBAA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EF4D1-560E-5BAF-4A43-52CAC1C27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73CF5-E804-C2F3-DD62-C52F2134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B8DF7-A5FF-16D9-C120-094BB2D7A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96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59B0B-F3E1-A040-AC30-5A94526D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A3DAA-DFD9-19C4-DA99-E589B665B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EA5DF-C264-731F-8FD4-2CC2EC4C7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31432-C9A6-ECB1-8938-381125853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45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0AE8-EB3B-D72D-3494-26CE182E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17133-467F-0680-83B0-9E1F0320A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892FA-FF3A-50FD-99FA-49572B8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6AF9C-4CA9-486F-22E8-579B2B5D2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68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4D82-9DD0-49E9-BE58-ADE1DF37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453A1-0FCC-2AC5-C46C-0569E73BE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1EB09-CFB0-9B86-723D-F55451600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1CDA2-91CD-8B45-3703-B8EA42BDF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6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EBF8-2F34-DEAC-975C-3AE6A7EF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0DAA5-7E5A-8861-CC18-31E4D1020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91150-B013-F981-E0BF-D3F26E4A9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D7EA-497C-A1A5-FD5E-A49A0F32E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4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QUBE – </a:t>
            </a:r>
            <a:r>
              <a:rPr lang="en-US" sz="27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</a:t>
            </a:r>
            <a:endParaRPr lang="hu-HU" sz="27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</a:rPr>
              <a:t>Bemutató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/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31F540D0-E4C8-E770-06DA-240979293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9873" y="2597499"/>
            <a:ext cx="4070800" cy="1664640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F2ED7247-88FB-855C-1768-019F6857C0B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2ABB9EC3-E8A7-02CE-FB5D-849C5B0E0CB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l="43660" t="-269" r="23006" b="269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6542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Cégünkről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3925119" y="2309813"/>
            <a:ext cx="2290465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3"/>
          <p:cNvSpPr/>
          <p:nvPr/>
        </p:nvSpPr>
        <p:spPr>
          <a:xfrm>
            <a:off x="4081165" y="24658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Győr – Gyártás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81165" y="2772370"/>
            <a:ext cx="19783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gyártóbázis, kompakt mini PC-k előállítása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2309813"/>
            <a:ext cx="2290539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6513388" y="2465859"/>
            <a:ext cx="197844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Székesfehérvár – Központ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13388" y="2993827"/>
            <a:ext cx="1978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Irodai és fejlesztési központ, IT infrastruktúra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25119" y="3745260"/>
            <a:ext cx="4722763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4081165" y="390130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Nyíregyháza – Bolt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81165" y="4207818"/>
            <a:ext cx="48678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Kiskereskedelmi telephely, termékbemutató és értékesítés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925119" y="475014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QUBE MiniPC Kft. megbízható, helyben gyártott technológiai megoldásokat kínál otthoni és üzleti felhasználók számára.</a:t>
            </a:r>
            <a:endParaRPr lang="en-US" sz="1100" dirty="0"/>
          </a:p>
        </p:txBody>
      </p:sp>
      <p:pic>
        <p:nvPicPr>
          <p:cNvPr id="16" name="Ábra 15">
            <a:extLst>
              <a:ext uri="{FF2B5EF4-FFF2-40B4-BE49-F238E27FC236}">
                <a16:creationId xmlns:a16="http://schemas.microsoft.com/office/drawing/2014/main" id="{F1A68A9E-8568-77BC-1B4C-8FB2BD4703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77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dirty="0">
                <a:solidFill>
                  <a:srgbClr val="FFFFFF"/>
                </a:solidFill>
                <a:latin typeface="Saira Medium"/>
              </a:rPr>
              <a:t>Tean Roles &amp; </a:t>
            </a:r>
            <a:r>
              <a:rPr lang="en-US" sz="2750" dirty="0" err="1">
                <a:solidFill>
                  <a:srgbClr val="FFFFFF"/>
                </a:solidFill>
                <a:latin typeface="Saira Medium"/>
              </a:rPr>
              <a:t>Responsibilites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7420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>
                <a:solidFill>
                  <a:srgbClr val="FFFFFF"/>
                </a:solidFill>
                <a:latin typeface="Saira Medium"/>
              </a:rPr>
              <a:t>Project goal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2105232"/>
            <a:ext cx="37329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Development of a modern, secure and redundant IT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infrastucture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 to support production, office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connercial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proccesses</a:t>
            </a:r>
          </a:p>
        </p:txBody>
      </p:sp>
      <p:sp>
        <p:nvSpPr>
          <p:cNvPr id="5" name="Text 3"/>
          <p:cNvSpPr/>
          <p:nvPr/>
        </p:nvSpPr>
        <p:spPr>
          <a:xfrm>
            <a:off x="496119" y="29274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>
                <a:solidFill>
                  <a:srgbClr val="FFFFFF"/>
                </a:solidFill>
                <a:latin typeface="Saira Medium"/>
              </a:rPr>
              <a:t>Project Management</a:t>
            </a:r>
            <a:endParaRPr lang="en-US" sz="1350" dirty="0">
              <a:solidFill>
                <a:srgbClr val="FFFFFF"/>
              </a:solidFill>
              <a:latin typeface="Saira Medium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3304336"/>
            <a:ext cx="3732981" cy="47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Collaboration via GitHub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Task tracking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versio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 control</a:t>
            </a:r>
          </a:p>
        </p:txBody>
      </p:sp>
      <p:sp>
        <p:nvSpPr>
          <p:cNvPr id="7" name="Shape 5"/>
          <p:cNvSpPr/>
          <p:nvPr/>
        </p:nvSpPr>
        <p:spPr>
          <a:xfrm>
            <a:off x="4646564" y="1738610"/>
            <a:ext cx="1965499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7373" y="1899419"/>
            <a:ext cx="2101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Gábriel Milán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6493" y="2281684"/>
            <a:ext cx="1785639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Server OS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installation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configura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tion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Testing and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optimization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53821" y="1738610"/>
            <a:ext cx="1965573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914630" y="1899419"/>
            <a:ext cx="21011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Nyári Patrik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14630" y="2262634"/>
            <a:ext cx="164395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Network design </a:t>
            </a:r>
            <a:endParaRPr lang="en-US" sz="1100"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Font typeface="Arial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Topology planning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Scripting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Dokumentation</a:t>
            </a:r>
            <a:endParaRPr lang="en-US" sz="1100" dirty="0" err="1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14D30C15-90D8-8F2F-EE8F-0408567477F6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Ábra 13">
            <a:extLst>
              <a:ext uri="{FF2B5EF4-FFF2-40B4-BE49-F238E27FC236}">
                <a16:creationId xmlns:a16="http://schemas.microsoft.com/office/drawing/2014/main" id="{A95D83E7-08A6-5AF6-A7E0-BCE0264CA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D04E491D-B132-FFBD-DCE3-658E8E777433}"/>
              </a:ext>
            </a:extLst>
          </p:cNvPr>
          <p:cNvSpPr/>
          <p:nvPr/>
        </p:nvSpPr>
        <p:spPr>
          <a:xfrm>
            <a:off x="496119" y="392471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hu-HU" sz="1350">
                <a:solidFill>
                  <a:srgbClr val="FFFFFF"/>
                </a:solidFill>
                <a:latin typeface="Saira Medium"/>
              </a:rPr>
              <a:t>Obstacles and problems</a:t>
            </a:r>
            <a:endParaRPr lang="hu-HU" sz="1350" dirty="0">
              <a:solidFill>
                <a:srgbClr val="FFFFFF"/>
              </a:solidFill>
              <a:latin typeface="Saira Medium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98BFC85-4F0B-5E55-4565-1CCF90DCB5A4}"/>
              </a:ext>
            </a:extLst>
          </p:cNvPr>
          <p:cNvSpPr/>
          <p:nvPr/>
        </p:nvSpPr>
        <p:spPr>
          <a:xfrm>
            <a:off x="496119" y="4301619"/>
            <a:ext cx="37329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Main difficulty: OSPF loop between the two routers of the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center -&gt; Solved with static routes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3E6575E-89F1-8DB4-AC9D-83E9455AB3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" t="3560" r="6" b="32328"/>
          <a:stretch>
            <a:fillRect/>
          </a:stretch>
        </p:blipFill>
        <p:spPr>
          <a:xfrm>
            <a:off x="4646564" y="3780799"/>
            <a:ext cx="4072830" cy="1740769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0228"/>
            <a:ext cx="5626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 Topológia és IP Címzés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50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Három telephely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8277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látja el a hálózat legfőbb feladatait és biztosítja a többi telephely számára,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legredundásabb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biztonságosabb.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A TERMELÉS 2 épületet foglal magába és három rétegű topológiára épül. A BOLT egy egyszerű,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dualstack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hálózat.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904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IPv4 logika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5369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Privát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10.0.0.0/8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hálózat, telephelyenként /16-os alhálózatok: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08053"/>
            <a:ext cx="3902943" cy="1055936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10.1.0.0/16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BOLT: 10.2.0.0/16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GYÁRTÁS: 10.3.0.0/16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CSOMAGOLÁS: 10.4.0.0/16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4905747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IPv6 – Dual Stack (BOLT)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5268962"/>
            <a:ext cx="3902943" cy="4536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Tesztjelleggel dual-stack topológia, SLAAC-alapú kiosztás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2a02:abcd:1234::/48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tartományból.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DE3C6E45-03F3-A913-1DF5-2B6B2490E97E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Ábra 12">
            <a:extLst>
              <a:ext uri="{FF2B5EF4-FFF2-40B4-BE49-F238E27FC236}">
                <a16:creationId xmlns:a16="http://schemas.microsoft.com/office/drawing/2014/main" id="{D7A943E4-38F9-6EB7-4039-34B5E67F3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93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VLAN Szegmentáció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843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telephelyen részletesen szegmentált VLAN struktúra biztosítja a forgalom elkülönítését, a biztonságot és a skálázhatóságot.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999-es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natív,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150-es ADMIN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menedzsmenthez,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200-as GUEST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vendégeknek.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91532"/>
            <a:ext cx="4004965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652165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KÖZPONT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2165" y="2954089"/>
            <a:ext cx="36928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HR, Marketing, Logisztika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Fejlesztés, Ügyfélszolgálat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491532"/>
            <a:ext cx="4005039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798888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8888" y="2954089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Kassza, Iroda, Raktár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(kamerák)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IPv4 + IPv6 dual-stack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4307830"/>
            <a:ext cx="4004965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52165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GYÁRTÁS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165" y="4770388"/>
            <a:ext cx="369287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Office, Production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4307830"/>
            <a:ext cx="4005039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798888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CSOMAGOLÁS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8888" y="4770388"/>
            <a:ext cx="36929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Logisztika, Packing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037CBA2F-C58C-0345-51A3-3336F943B46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Ábra 16">
            <a:extLst>
              <a:ext uri="{FF2B5EF4-FFF2-40B4-BE49-F238E27FC236}">
                <a16:creationId xmlns:a16="http://schemas.microsoft.com/office/drawing/2014/main" id="{BCB633AA-4DF7-C84A-1B85-6F4C822BB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962"/>
            <a:ext cx="47953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Redundancia és Biztonság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63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L2 Redundancia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19523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PVST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VLAN-onkénti feszítőfa, gyors topológiaváltás.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EtherChannel (LACP)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 fizikai port logikai linkké aggregálva, növelt sávszélesség és redundancia.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41724"/>
            <a:ext cx="2418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L3 Redundancia – HSRP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04939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KÖZPONT két routere virtuális átjárót biztosít. A forgalom VLAN-onként megoszlik a két router között; meghibásodás esetén automatikus átvétel.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40271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Hálózatbiztonság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390355"/>
            <a:ext cx="3902943" cy="155912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ARP-spoofing elleni védelem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 Snooping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hamis DHCP szerver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Storm Control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broadcast limit 40%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PortFast + BPDU Guard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gyors csatlakozás, jogosulatlan switch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+ titkosított jelszavak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eszközbiztonság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C6E1C4E3-E9CE-2865-EF3B-38A7AA70C81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CADBA149-98BA-C5BE-E359-2620EBED2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8379" y="456828"/>
            <a:ext cx="4738241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Site-to-Site Kapcsolat és Forgalomirányítás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88379" y="1471315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3"/>
          <p:cNvSpPr/>
          <p:nvPr/>
        </p:nvSpPr>
        <p:spPr>
          <a:xfrm>
            <a:off x="474092" y="1471315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4"/>
          <p:cNvSpPr/>
          <p:nvPr/>
        </p:nvSpPr>
        <p:spPr>
          <a:xfrm>
            <a:off x="678061" y="1618134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GRE Alagút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78061" y="1899568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és BOLT között két független GRE tunnel (Tunnel1: 192.168.100.x, Tunnel2: 192.168.200.x). Ha az egyik kiesik, a másik átveszi a forgalmat.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8379" y="2786063"/>
            <a:ext cx="4738241" cy="985540"/>
          </a:xfrm>
          <a:prstGeom prst="roundRect">
            <a:avLst>
              <a:gd name="adj" fmla="val 69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7"/>
          <p:cNvSpPr/>
          <p:nvPr/>
        </p:nvSpPr>
        <p:spPr>
          <a:xfrm>
            <a:off x="474092" y="2786063"/>
            <a:ext cx="57150" cy="985540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8"/>
          <p:cNvSpPr/>
          <p:nvPr/>
        </p:nvSpPr>
        <p:spPr>
          <a:xfrm>
            <a:off x="678061" y="2932881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IPsec VPN Titkosítás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78061" y="3214315"/>
            <a:ext cx="4401741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 fölé IPsec réteg: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AES-256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titkosítás,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hash, előre megosztott kulcs. MTU csökkentve a fragmentáció elkerülésére.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8379" y="3895576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474092" y="3895576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2"/>
          <p:cNvSpPr/>
          <p:nvPr/>
        </p:nvSpPr>
        <p:spPr>
          <a:xfrm>
            <a:off x="678061" y="4042395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Forgalomirányítás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8061" y="4323829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 felé statikus alapértelmezett útvonalak. BOLT–KÖZPONT között statikus tunnel-útvonalak prioritással. TERMELÉS telephelyen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OSPF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dinamikus routing MD5 hitelesítéssel.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8379" y="5210324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74092" y="5210324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Text 16"/>
          <p:cNvSpPr/>
          <p:nvPr/>
        </p:nvSpPr>
        <p:spPr>
          <a:xfrm>
            <a:off x="678061" y="5357143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NAT / PAT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8061" y="5638577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statikus NAT szervereknek + dinamikus overload pool (204.231.55.0/26). BOLT és TERMELÉS: PAT overload egyetlen publikus IP-re.</a:t>
            </a:r>
            <a:endParaRPr lang="en-US" sz="1000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61328F1B-2E8B-39CE-1FFC-8D3944AB72D0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5" name="Ábra 24">
            <a:extLst>
              <a:ext uri="{FF2B5EF4-FFF2-40B4-BE49-F238E27FC236}">
                <a16:creationId xmlns:a16="http://schemas.microsoft.com/office/drawing/2014/main" id="{281E318C-A5D0-C47F-39B9-C3298BF8F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28D5BF15-A4C7-BFBE-0524-AE48186BA86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E55BB6F5-CF03-58E3-6CF3-E58E88B15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029F7FD-3423-DF2A-DA2D-4A515B384A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4BB44BF9-BEE0-54FE-3B01-AFC8E21B8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94052C70-3CE9-5D00-287A-9B835F86A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AE0BE-ECCE-8A2B-60AF-F8A53FAA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93674F2-0164-C1D2-7010-EFC0BE4267DD}"/>
              </a:ext>
            </a:extLst>
          </p:cNvPr>
          <p:cNvSpPr/>
          <p:nvPr/>
        </p:nvSpPr>
        <p:spPr>
          <a:xfrm>
            <a:off x="479160" y="457200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>
                <a:latin typeface="+mj-lt"/>
                <a:ea typeface="+mj-ea"/>
                <a:cs typeface="+mj-cs"/>
              </a:rPr>
              <a:t>Windows Szerver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E1A2FD3-C58E-9BB2-3320-DC0B6CE2316E}"/>
              </a:ext>
            </a:extLst>
          </p:cNvPr>
          <p:cNvSpPr/>
          <p:nvPr/>
        </p:nvSpPr>
        <p:spPr>
          <a:xfrm>
            <a:off x="479160" y="1922561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Active Directory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F9D31F-3535-299C-78D0-A4618276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90" y="2642616"/>
            <a:ext cx="1802892" cy="3605784"/>
          </a:xfrm>
          <a:prstGeom prst="rect">
            <a:avLst/>
          </a:prstGeom>
        </p:spPr>
      </p:pic>
      <p:pic>
        <p:nvPicPr>
          <p:cNvPr id="16" name="Kép 1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DCE06AA2-2BBF-A1F8-4045-857E48E6E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9" y="2736811"/>
            <a:ext cx="5867135" cy="3034112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EFAFA628-1287-C9C6-9121-94500713785D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E3ADA5F9-A383-0DED-8C52-09EB66401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BA04F-1EB0-B547-1375-332DF996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664" y="304802"/>
            <a:ext cx="8323012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483690B-F26C-A119-587E-71A6CE6F795A}"/>
              </a:ext>
            </a:extLst>
          </p:cNvPr>
          <p:cNvSpPr/>
          <p:nvPr/>
        </p:nvSpPr>
        <p:spPr>
          <a:xfrm>
            <a:off x="651510" y="405575"/>
            <a:ext cx="3751326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latin typeface="+mj-lt"/>
                <a:ea typeface="+mj-ea"/>
                <a:cs typeface="+mj-cs"/>
              </a:rPr>
              <a:t>Windows Szerver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1E86BAA7-4718-57CF-03A4-A2DD765F8B76}"/>
              </a:ext>
            </a:extLst>
          </p:cNvPr>
          <p:cNvSpPr/>
          <p:nvPr/>
        </p:nvSpPr>
        <p:spPr>
          <a:xfrm>
            <a:off x="4786884" y="498698"/>
            <a:ext cx="3705606" cy="1185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100"/>
              <a:t>Group Policy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088" y="7644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56" y="1072979"/>
            <a:ext cx="1021458" cy="685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F96F823-AEE5-D3F5-B127-53AA1A362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59" y="2091095"/>
            <a:ext cx="2103120" cy="4206240"/>
          </a:xfrm>
          <a:prstGeom prst="rect">
            <a:avLst/>
          </a:prstGeom>
        </p:spPr>
      </p:pic>
      <p:pic>
        <p:nvPicPr>
          <p:cNvPr id="3" name="Kép 2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A9696B1E-AE25-E883-DAC1-544F8885D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928" y="1950762"/>
            <a:ext cx="5675220" cy="4613765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B58DC081-AF63-BDC3-7000-BD18E34E3796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36DDB2E0-1811-C211-3CFE-C28792721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8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F632-FCA2-37CA-59CF-4BDDF3D2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15C64D-9D54-FF55-680D-E9CCAAFC27EB}"/>
              </a:ext>
            </a:extLst>
          </p:cNvPr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90D58FB-3865-FBDC-D48F-8E4F08E98967}"/>
              </a:ext>
            </a:extLst>
          </p:cNvPr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DC2B67-2021-2B48-A16A-9EAC44C84DDD}"/>
              </a:ext>
            </a:extLst>
          </p:cNvPr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D5CAC47-D8B3-9AEC-13F7-092A8B308720}"/>
              </a:ext>
            </a:extLst>
          </p:cNvPr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C0B9477-F07A-01B4-A659-980468C5A2A4}"/>
              </a:ext>
            </a:extLst>
          </p:cNvPr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24EAF5F-7319-38A0-F751-A88C370021C8}"/>
              </a:ext>
            </a:extLst>
          </p:cNvPr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FB2E6E1-DA35-7C4E-092B-7243FE0DFE94}"/>
              </a:ext>
            </a:extLst>
          </p:cNvPr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6F94121-55B8-606F-D4F5-780178E85CCA}"/>
              </a:ext>
            </a:extLst>
          </p:cNvPr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6DFBA172-193C-9E8C-1CF3-F99CC3FD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0925FE15-5EDC-C53A-280A-A1C2ADB050DD}"/>
              </a:ext>
            </a:extLst>
          </p:cNvPr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5ACBA64C-70C0-7475-BE80-2DD68256A7E4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F7825794-C74B-242E-EB28-408D3DA1D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BE9188D7-C83D-CF2C-8038-52C1B6901B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42ECF68D-7898-5DB6-7D95-46651EAB4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D447D5E2-B48C-74AE-5DFB-C869316A7D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67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8ECA7-9FE5-13A1-FAC4-97B4F072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3B488F-69B5-6BD6-6BE3-D3648FAFC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D7086546-5119-6BD8-CAD7-6CF776296682}"/>
              </a:ext>
            </a:extLst>
          </p:cNvPr>
          <p:cNvSpPr/>
          <p:nvPr/>
        </p:nvSpPr>
        <p:spPr>
          <a:xfrm>
            <a:off x="4642842" y="2491532"/>
            <a:ext cx="4005039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15E3E3A-B1B8-8940-927A-B073EA8BB4C2}"/>
              </a:ext>
            </a:extLst>
          </p:cNvPr>
          <p:cNvSpPr/>
          <p:nvPr/>
        </p:nvSpPr>
        <p:spPr>
          <a:xfrm>
            <a:off x="479160" y="457200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 dirty="0">
                <a:latin typeface="+mj-lt"/>
                <a:ea typeface="+mj-ea"/>
                <a:cs typeface="+mj-cs"/>
              </a:rPr>
              <a:t>Linux </a:t>
            </a:r>
            <a:r>
              <a:rPr lang="en-US" sz="5700" dirty="0" err="1">
                <a:latin typeface="+mj-lt"/>
                <a:ea typeface="+mj-ea"/>
                <a:cs typeface="+mj-cs"/>
              </a:rPr>
              <a:t>Szerver</a:t>
            </a:r>
            <a:endParaRPr lang="en-US" sz="5700" dirty="0" err="1">
              <a:latin typeface="+mj-lt"/>
              <a:ea typeface="Calibri Light"/>
              <a:cs typeface="Calibri Light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DB8ECD0E-34AB-835B-1EB8-3C17C37B3F78}"/>
              </a:ext>
            </a:extLst>
          </p:cNvPr>
          <p:cNvSpPr/>
          <p:nvPr/>
        </p:nvSpPr>
        <p:spPr>
          <a:xfrm>
            <a:off x="479160" y="1922561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Debian 12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F483C755-9F7A-5067-AB30-C15368412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A562BC82-64EE-F449-CA67-B48327BD1120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A91E2DB0-947D-FB91-2649-1682C3E4B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17" name="Shape 2">
            <a:extLst>
              <a:ext uri="{FF2B5EF4-FFF2-40B4-BE49-F238E27FC236}">
                <a16:creationId xmlns:a16="http://schemas.microsoft.com/office/drawing/2014/main" id="{F77330A4-AF2D-34F3-FC62-F97E816FA15F}"/>
              </a:ext>
            </a:extLst>
          </p:cNvPr>
          <p:cNvSpPr/>
          <p:nvPr/>
        </p:nvSpPr>
        <p:spPr>
          <a:xfrm>
            <a:off x="496119" y="2491532"/>
            <a:ext cx="4004965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7E78735-B00F-6E9F-FDC7-73DDC20AFB4C}"/>
              </a:ext>
            </a:extLst>
          </p:cNvPr>
          <p:cNvSpPr/>
          <p:nvPr/>
        </p:nvSpPr>
        <p:spPr>
          <a:xfrm>
            <a:off x="652165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Radius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A057F70-3B88-49B3-9B81-887F5D87CC2E}"/>
              </a:ext>
            </a:extLst>
          </p:cNvPr>
          <p:cNvSpPr/>
          <p:nvPr/>
        </p:nvSpPr>
        <p:spPr>
          <a:xfrm>
            <a:off x="652165" y="2954089"/>
            <a:ext cx="36928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AAA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modellre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épülő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hitelesítési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rendszer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Központilag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hitelesítve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cstlakoznak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hálózathoz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WPA2-enterprise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módban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használtuk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szerveren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freeradius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szolgáltatást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alkalmaztunk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E2BE04E-B529-50F5-82E8-E358794F4698}"/>
              </a:ext>
            </a:extLst>
          </p:cNvPr>
          <p:cNvSpPr/>
          <p:nvPr/>
        </p:nvSpPr>
        <p:spPr>
          <a:xfrm>
            <a:off x="4798888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NTP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7838C90-13B1-CC32-B663-D58D54A45EA0}"/>
              </a:ext>
            </a:extLst>
          </p:cNvPr>
          <p:cNvSpPr/>
          <p:nvPr/>
        </p:nvSpPr>
        <p:spPr>
          <a:xfrm>
            <a:off x="4798888" y="2954089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Pontos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időszinkronizáció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Szerveren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ntpsec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szolgáltatás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Az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eszközök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szervert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használják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időforrásként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Az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ntp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működését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hitelesítéssel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egészítettük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ki</a:t>
            </a: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AFACF36-75EF-B840-F5A9-E97D6E3CA3F3}"/>
              </a:ext>
            </a:extLst>
          </p:cNvPr>
          <p:cNvSpPr/>
          <p:nvPr/>
        </p:nvSpPr>
        <p:spPr>
          <a:xfrm>
            <a:off x="496119" y="4307830"/>
            <a:ext cx="4004965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18A0F4E-57D4-4CC1-B9B6-4B02607204BE}"/>
              </a:ext>
            </a:extLst>
          </p:cNvPr>
          <p:cNvSpPr/>
          <p:nvPr/>
        </p:nvSpPr>
        <p:spPr>
          <a:xfrm>
            <a:off x="652165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SSH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639D6C72-6AF6-A91E-EA0A-70523DF0AC7C}"/>
              </a:ext>
            </a:extLst>
          </p:cNvPr>
          <p:cNvSpPr/>
          <p:nvPr/>
        </p:nvSpPr>
        <p:spPr>
          <a:xfrm>
            <a:off x="652165" y="4770388"/>
            <a:ext cx="369287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Titkosított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kapcsolat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Távoli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elérés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Szkript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alapú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konfiguráció</a:t>
            </a: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BB099DE7-9BEB-53C4-3394-DD58D1A1E9EC}"/>
              </a:ext>
            </a:extLst>
          </p:cNvPr>
          <p:cNvSpPr/>
          <p:nvPr/>
        </p:nvSpPr>
        <p:spPr>
          <a:xfrm>
            <a:off x="4642842" y="4307830"/>
            <a:ext cx="4005039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53BFDA59-B057-1111-B2F9-CD8712C3F801}"/>
              </a:ext>
            </a:extLst>
          </p:cNvPr>
          <p:cNvSpPr/>
          <p:nvPr/>
        </p:nvSpPr>
        <p:spPr>
          <a:xfrm>
            <a:off x="4798888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TFTP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1E677AB-27F2-AC62-1399-EF1CB7E8A266}"/>
              </a:ext>
            </a:extLst>
          </p:cNvPr>
          <p:cNvSpPr/>
          <p:nvPr/>
        </p:nvSpPr>
        <p:spPr>
          <a:xfrm>
            <a:off x="4798888" y="4770388"/>
            <a:ext cx="36929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3C8DED9E-ACF6-CB97-B7B1-50607DDF2221}"/>
              </a:ext>
            </a:extLst>
          </p:cNvPr>
          <p:cNvSpPr/>
          <p:nvPr/>
        </p:nvSpPr>
        <p:spPr>
          <a:xfrm>
            <a:off x="4798888" y="4774675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Eszközök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biztonsági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mentése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Egy python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kód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végzi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minden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nap 03:00-kor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Teljes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jogosultságot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adtunk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az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eszközöknek</a:t>
            </a:r>
          </a:p>
        </p:txBody>
      </p:sp>
    </p:spTree>
    <p:extLst>
      <p:ext uri="{BB962C8B-B14F-4D97-AF65-F5344CB8AC3E}">
        <p14:creationId xmlns:p14="http://schemas.microsoft.com/office/powerpoint/2010/main" val="4014022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08528-4DB1-5DFE-CC85-7E9539C0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E4479A-6385-F741-9E18-EC93A8803420}"/>
              </a:ext>
            </a:extLst>
          </p:cNvPr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801503-D73B-F177-ECD4-F39639AA23AA}"/>
              </a:ext>
            </a:extLst>
          </p:cNvPr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772B856-337E-F2A9-F18F-AAC5FDB30F11}"/>
              </a:ext>
            </a:extLst>
          </p:cNvPr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B5EEB72-072D-E11E-AD4C-67FC290208F3}"/>
              </a:ext>
            </a:extLst>
          </p:cNvPr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27DD6ED-3DCE-91CE-475C-8A07D4F88362}"/>
              </a:ext>
            </a:extLst>
          </p:cNvPr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0EF7EDD-5C40-B8F4-CA9D-8D815798A846}"/>
              </a:ext>
            </a:extLst>
          </p:cNvPr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1EAB7E8-DFEF-E9B0-C787-86A585A8A57C}"/>
              </a:ext>
            </a:extLst>
          </p:cNvPr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376FACD4-CFBC-1B7E-C1DB-FA5410D8D0EB}"/>
              </a:ext>
            </a:extLst>
          </p:cNvPr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55C64FEC-9870-EDA0-2BDD-D2A6305A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D5FF74E2-8E42-EBA9-AB68-9AC59D388507}"/>
              </a:ext>
            </a:extLst>
          </p:cNvPr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504ACE5-98D4-FF6A-FBC1-0E70AFBAD9C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E7E41B67-F47F-52DB-735E-C646E7FF5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825E602-5B18-2660-BE7C-294CA97BEE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89847D5E-40A2-86B6-20DB-70B522700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8C5146BC-4AD8-01B6-A8AE-F473BDB38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9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5A70F-C1CC-A6A6-BDAC-F51CE5F7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F338F0F-34A2-7FA6-9DE4-E43E491AE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8CFA109-EF67-69DB-1549-A9A3B7EF2C33}"/>
              </a:ext>
            </a:extLst>
          </p:cNvPr>
          <p:cNvSpPr/>
          <p:nvPr/>
        </p:nvSpPr>
        <p:spPr>
          <a:xfrm>
            <a:off x="479160" y="457200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>
                <a:latin typeface="+mj-lt"/>
                <a:ea typeface="+mj-ea"/>
                <a:cs typeface="+mj-cs"/>
              </a:rPr>
              <a:t>Zabbix Szerver</a:t>
            </a:r>
            <a:endParaRPr lang="en-US" sz="5700">
              <a:latin typeface="+mj-lt"/>
              <a:ea typeface="Calibri Light"/>
              <a:cs typeface="Calibri Light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AD74ECC8-16C8-212D-DAAA-AECA18F5D513}"/>
              </a:ext>
            </a:extLst>
          </p:cNvPr>
          <p:cNvSpPr/>
          <p:nvPr/>
        </p:nvSpPr>
        <p:spPr>
          <a:xfrm>
            <a:off x="479160" y="1922561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Zabbix Agent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3C18099-EA3B-3F00-9C9B-301BF649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7790D68C-C756-C380-501B-FC8C8DE73C9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0025115E-537A-F77B-A77B-54B00EF8F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40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t="17070" b="17070"/>
          <a:stretch>
            <a:fillRect/>
          </a:stretch>
        </p:blipFill>
        <p:spPr>
          <a:xfrm rot="5400000">
            <a:off x="3958483" y="1714500"/>
            <a:ext cx="6942034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788715"/>
            <a:ext cx="4251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Prototípus és Tesztelés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144430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prototípus a Győri Jedlik Ányos Technikumban valósult meg, 5 napon át. Valós Cisco eszközök + VirtualBox virtualizált szerverek, szimulált ISP routerrel összekötve.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2284214"/>
            <a:ext cx="4722763" cy="2569518"/>
          </a:xfrm>
          <a:prstGeom prst="roundRect">
            <a:avLst>
              <a:gd name="adj" fmla="val 496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4"/>
          <p:cNvSpPr/>
          <p:nvPr/>
        </p:nvSpPr>
        <p:spPr>
          <a:xfrm>
            <a:off x="510406" y="2298502"/>
            <a:ext cx="4694188" cy="1270471"/>
          </a:xfrm>
          <a:prstGeom prst="roundRect">
            <a:avLst>
              <a:gd name="adj" fmla="val 10043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652165" y="24402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✅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Beépítve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2165" y="2746772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STP, EtherChannel, HSRP, DAI, DHCP Snooping, ACL, NAT, GRE, statikus routing, AD, DHCP, DNS, IIS, fájlmegosztás, NTP, Zabbix, automatizáció, dual-stack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0406" y="3568973"/>
            <a:ext cx="4668813" cy="1212577"/>
          </a:xfrm>
          <a:prstGeom prst="rect">
            <a:avLst/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Shape 8"/>
          <p:cNvSpPr/>
          <p:nvPr/>
        </p:nvSpPr>
        <p:spPr>
          <a:xfrm>
            <a:off x="510406" y="3568973"/>
            <a:ext cx="4694188" cy="19050"/>
          </a:xfrm>
          <a:prstGeom prst="roundRect">
            <a:avLst>
              <a:gd name="adj" fmla="val 669768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652165" y="371073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⚠️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Részben / Nem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2165" y="4017243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Dinamikus OSPF routing – nem beépítve. Wi-Fi VLAN szegmentálás – részben. IPsec, CHAP, SSH router menedzsment – eszközkorlátok miatt kihagyva.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6119" y="5013201"/>
            <a:ext cx="4722763" cy="1056010"/>
          </a:xfrm>
          <a:prstGeom prst="roundRect">
            <a:avLst>
              <a:gd name="adj" fmla="val 12082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5228258"/>
            <a:ext cx="177180" cy="1417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816" y="5190381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Részletes tesztelési dokumentáció: QUBE_tesztelesi_dokumentacio.pdf · Bemutató videó: QUBE_prototipus.mp4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F30B-ADDE-9967-BD6C-38DCB60F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676178-8C87-D707-F604-21C099C3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17C53D1-E429-A433-9083-C2BBE6DE1392}"/>
              </a:ext>
            </a:extLst>
          </p:cNvPr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KÖSZÖNJÜK A FIGYELMET!</a:t>
            </a:r>
            <a:endParaRPr lang="en-US" sz="2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5851407-99E4-D128-B58D-D174A6067260}"/>
              </a:ext>
            </a:extLst>
          </p:cNvPr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2442427-2368-4233-85A9-90468E386181}"/>
              </a:ext>
            </a:extLst>
          </p:cNvPr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48A002B-A499-4515-1126-EAC3B2DD267A}"/>
              </a:ext>
            </a:extLst>
          </p:cNvPr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D7DC5FF-0D25-D2C5-0662-7F2176AB3CDC}"/>
              </a:ext>
            </a:extLst>
          </p:cNvPr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083E010-B3B0-68BB-FFFA-DFFF2D2761EC}"/>
              </a:ext>
            </a:extLst>
          </p:cNvPr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EF792B4-EECB-9F09-8773-8CF0AAE46D17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6A0B091A-8D3E-39E0-3206-DAA7B557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47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770</Words>
  <Application>Microsoft Office PowerPoint</Application>
  <PresentationFormat>Diavetítés a képernyőre (4:3 oldalarány)</PresentationFormat>
  <Paragraphs>120</Paragraphs>
  <Slides>16</Slides>
  <Notes>16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7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</dc:creator>
  <cp:lastModifiedBy>O365 felhasználó</cp:lastModifiedBy>
  <cp:revision>213</cp:revision>
  <dcterms:created xsi:type="dcterms:W3CDTF">2026-05-18T13:36:23Z</dcterms:created>
  <dcterms:modified xsi:type="dcterms:W3CDTF">2026-05-27T16:13:40Z</dcterms:modified>
</cp:coreProperties>
</file>